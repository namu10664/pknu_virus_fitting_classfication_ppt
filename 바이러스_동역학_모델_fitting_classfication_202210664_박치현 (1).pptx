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73" r:id="rId4"/>
    <p:sldId id="274" r:id="rId5"/>
    <p:sldId id="279" r:id="rId6"/>
    <p:sldId id="275" r:id="rId7"/>
    <p:sldId id="276" r:id="rId8"/>
    <p:sldId id="280" r:id="rId9"/>
    <p:sldId id="257" r:id="rId10"/>
    <p:sldId id="277" r:id="rId11"/>
    <p:sldId id="260" r:id="rId12"/>
    <p:sldId id="258" r:id="rId13"/>
    <p:sldId id="270" r:id="rId14"/>
    <p:sldId id="262" r:id="rId15"/>
    <p:sldId id="281" r:id="rId16"/>
    <p:sldId id="263" r:id="rId17"/>
    <p:sldId id="271" r:id="rId18"/>
    <p:sldId id="264" r:id="rId19"/>
    <p:sldId id="265" r:id="rId20"/>
    <p:sldId id="284" r:id="rId21"/>
    <p:sldId id="266" r:id="rId22"/>
    <p:sldId id="267" r:id="rId23"/>
    <p:sldId id="268" r:id="rId24"/>
    <p:sldId id="269" r:id="rId25"/>
    <p:sldId id="272" r:id="rId26"/>
    <p:sldId id="282" r:id="rId27"/>
    <p:sldId id="283" r:id="rId28"/>
    <p:sldId id="286" r:id="rId29"/>
    <p:sldId id="287" r:id="rId30"/>
    <p:sldId id="285" r:id="rId31"/>
    <p:sldId id="291" r:id="rId32"/>
    <p:sldId id="288" r:id="rId33"/>
    <p:sldId id="289" r:id="rId34"/>
    <p:sldId id="290" r:id="rId3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17T14:47:50.54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133 2,'248'-2,"270"5,-439 1,0 4,-1 4,0 2,101 34,-136-36,2-1,-1-3,90 6,141-15,-111-3,538 5,-650 1,-2 3,96 22,-76-12,11-5,1-2,162-7,-126-3,-1 0,192 4,-174 12,-21 0,71 10,-114-13,29 15,-99-26,-1-1,1 1,0 1,0-1,0 0,-1 0,1 0,0 0,0 1,0-1,-1 0,1 1,0-1,0 0,-1 1,1-1,0 1,-1-1,1 1,0 0,-1-1,1 1,-1-1,1 1,-1 0,0 0,1 1,-1-1,0 0,-1 0,1 0,-1 0,1 0,-1 0,0 0,1 0,-1 0,0-1,0 1,1 0,-1 0,0-1,0 1,0-1,-1 2,-7 3,0-1,0 1,-16 4,-6-2,0-1,0-1,-45 1,-101-8,61-1,-2309 2,2354-3,-1-3,-123-28,-34-6,136 30,-319-19,-221 31,603 4,25 1,18 2,9-3,1-1,0 0,-1-2,1-1,28-2,-17 1,42 5,-34 2,57 18,-61-14,1-3,0-2,1-2,-1-2,1-1,39-5,13 1,-70 3,3-2,0 2,0 2,0 0,0 1,43 12,-24-3,0-1,1-2,1-3,-1-1,53-1,137-4,414 17,-184-4,-405-10,66 10,55 4,859-18,-1014 0,0 2,-1 2,1 0,-1 1,0 1,0 2,44 18,-38-9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17T14:47:53.0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51,'646'0,"-632"-1,0 0,0 0,0-2,0 0,0 0,-1-2,0 1,23-12,-32 13,1 1,-1 0,1 1,0-1,-1 1,8-1,-72 33,27-14,15-7,-1 0,-1 0,0-2,0-1,-1 0,-37 6,16-8,2 2,-1 2,1 1,-71 29,109-38,0 0,-1 0,1 0,0 0,0 0,0 0,0 1,1-1,-1 1,0 0,1-1,-1 1,1 0,-1 0,-1 4,2-5,1 1,0-1,0 1,0-1,0 1,0-1,0 1,0-1,1 1,-1-1,0 1,1-1,-1 0,1 1,0-1,-1 1,1-1,0 0,0 0,0 1,0-1,0 0,0 0,0 0,0 0,2 1,16 12,1-1,0-1,1-1,0-1,1-1,36 11,5 3,116 37,-179-60,0 0,1 0,-1 0,1 0,-1 0,0 0,1 0,-1 1,0-1,1 0,-1 0,0 0,1 1,-1-1,0 0,1 0,-1 1,0-1,0 0,1 1,-1-1,0 0,0 1,1-1,-1 0,0 1,0-1,0 0,0 1,0-1,0 1,-11 5,-35 2,34-6,-96 11,-132-2,187-10,93-2,230 3,-240 2,-7 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17T14:47:57.36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0 303,'1331'0,"-1261"3,-1 3,71 15,-86-9,-28-6,37 4,442-2,-299-10,-112 1,-10-1,157 17,-117 3,-39-8,156 41,-196-39,0-3,0-1,74 4,143-12,-137-2,-82 1,470-18,80 4,-386 17,-129-2,28 1,131-15,-121 2,161 3,-353 8,-10 2,0-4,-111-18,122 6,-1 3,-144-2,121 14,-246 14,30 4,185-14,-58 14,111-9,-105 24,125-21,-1-1,-87 3,-169-14,-294 10,-709 12,893-24,403 2,9 1,0-1,0 0,-18-4,27 4,1 0,0-1,-1 0,1 1,0-1,0 0,-1 0,1 0,0 0,0-1,0 1,0-1,0 1,0-1,1 0,-1 1,1-1,-1 0,1 0,-1 0,1 0,0 0,-1-3,2 3,-1 0,1 1,0-1,0 0,0 0,0 0,0 1,0-1,1 0,-1 0,0 0,1 1,0-1,-1 0,1 1,0-1,0 0,0 1,0-1,0 1,0 0,0-1,0 1,1 0,1-2,5-4,1 1,-1 0,13-6,-9 5,6-4,1 2,0 0,0 1,41-11,89-8,-147 27,121-18,371-40,143 25,-1 25,-146 5,-117-32,-105 6,-88-1,3 0,-63 23,102-10,-66 2,16-3,-92 11,144 4,-2 1,-185-3,-6-2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0T17:50:32.33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3361 24575,'13'-35'0,"0"-1"0,-3 0 0,-1-1 0,-2 1 0,4-48 0,-4 30 0,5-117 0,-7 63 0,-1 86 0,0 0 0,2 0 0,0 1 0,1 0 0,16-31 0,13-42 0,36-104 0,-40 118 0,22-84 0,-38 112 0,29-65 0,12-35 0,-16 44 0,-26 73 0,12-42 0,-13 34 0,3 1 0,2 0 0,33-55 0,-34 66 0,68-110 0,-16 28 0,-19 28 0,4 3 0,3 1 0,110-116 0,-8 48 0,-116 110 0,-29 24 0,1 1 0,1 1 0,0 0 0,1 1 0,26-13 0,-30 18 0,1-1 0,-1-1 0,16-13 0,-16 11 0,1 0 0,25-12 0,140-48 0,-36 17 0,-126 48 0,0 0 0,1 2 0,-1 0 0,23-2 0,3 0 0,13-5 0,7-1 0,-1 2 0,92-1 0,11 10 0,135 4 0,-246 2 0,1 3 0,69 19 0,72 10 0,24-13 0,224 54 0,20 52 0,-105-46 0,-60-16 0,-85-1 0,33 8 0,-28-4 0,-49-13 0,-49-29 0,24 8 0,-11 8 0,353 130 0,-295-104 0,49 22 0,38 48 0,111 50 0,293 140 0,-458-220 0,52 27 0,112 67 0,-26-14 0,-61-45 0,59 35 0,77 41 0,-284-144 0,-94-46 0,21 14 0,33 16 0,107 53 0,-199-103 0,-2 0 0,0 2 0,0 0 0,32 31 0,-45-37-341,0 0 0,0 1-1,9 15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0T17:50:38.53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7139 24575,'4'-1'0,"0"0"0,-1-1 0,1 0 0,0 0 0,-1 0 0,0 0 0,1 0 0,-1-1 0,0 1 0,0-1 0,0 0 0,3-5 0,12-9 0,142-122 0,-43 33 0,31-24 0,-74 63 0,164-116 0,-173 137 0,-2-3 0,76-75 0,-83 72 0,139-142 0,41-39 0,-107 97 0,19-17 0,-119 128 0,41-27 0,-1 0 0,291-253 0,-199 145 0,-44 41 0,208-183 0,63-111 0,-273 296 0,17-18 0,40-56 0,-157 175 0,158-181 0,98-100 0,-104 127 0,133-121 0,-73 89 0,-157 138 0,130-107 0,-26 23 0,-24 27 0,22-20 0,-119 91 0,8-8 0,85-63 0,226-187 0,-255 205 0,56-34 0,51-46 0,-181 147 0,0 2 0,86-51 0,-79 54 0,189-105 0,-142 73 0,118-72 0,-126 92 0,174-59 0,-262 101 0,244-77 0,-211 68 0,1 2 0,0 1 0,39-2 0,23-4 0,170-22 0,152 33 0,-347 10 0,0 4 0,116 33 0,-178-42 0,178 62 0,-163-57 0,0 2 0,42 23 0,12 6 0,-11-9 0,-1 4 0,-2 2 0,87 64 0,13 10 0,-98-68 0,-1 2 0,116 105 0,-116-86 0,81 89 0,-95-90 0,60 79 0,-14-14 0,29 39 0,4 36 0,0 11 0,-4-7 0,-17-18 0,-68-111 0,142 227 0,-134-237 0,-35-49 0,0 1 0,-2 1 0,12 21 0,11 32-1365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17T13:09:17.530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1,'59'22,"3"-12,43 7,130 1,788-11,-770-8,261 3,247 10,-555-10,-107 10,-17-1,-21-5,-36-3,0 0,0-2,0-2,46-7,-49 0,-19 7,0-1,1 0,-1 1,1 0,-1 0,1 0,-1 0,1 1,0 0,-1 0,1 0,0 0,-1 1,6 1,-3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17T13:10:13.49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0 127,'3817'0,"-3721"-11,97-41,-101 22,115-2,1426 37,-925-7,-668 13,-30 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364AFD-B435-22A0-5FF4-4B9D3F17A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A997448-B45D-531D-DE9E-0BA03591D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A54ED2-CF0F-2D76-AC8D-84B32F3A6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1A0FB-B1E3-4BDC-AD52-D70DBA998491}" type="datetimeFigureOut">
              <a:rPr lang="ko-KR" altLang="en-US" smtClean="0"/>
              <a:t>2024-12-21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EA4043-DE49-0CC0-A76B-5242D2C13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3FFDF7-2C96-1326-F574-5F0F786FA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885E2-791B-47AC-A7DA-6030AE3804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1603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E502CB-8965-436A-088D-2F04542DA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829EAD-1DE7-3ED5-8B84-3C4908AE6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AA12D4-E5B0-4929-D02E-6A1C953E1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1A0FB-B1E3-4BDC-AD52-D70DBA998491}" type="datetimeFigureOut">
              <a:rPr lang="ko-KR" altLang="en-US" smtClean="0"/>
              <a:t>2024-12-21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681694-4E9B-6C57-1C2E-829292A64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11064C-B3D5-3A84-AA24-BDD3F6753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885E2-791B-47AC-A7DA-6030AE3804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2751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9F77A5-58B7-FA9F-3946-FB36F8ED8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B7E0AC-4251-4645-F28D-E7D219B8B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68F36A-5772-F30B-267C-A507D756B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1A0FB-B1E3-4BDC-AD52-D70DBA998491}" type="datetimeFigureOut">
              <a:rPr lang="ko-KR" altLang="en-US" smtClean="0"/>
              <a:t>2024-12-21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94CCDB-13CC-84CF-9800-2CC0B686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247557-CBA0-FA0D-93E2-7AFD27667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885E2-791B-47AC-A7DA-6030AE3804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0468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B6BD9F-0F4C-FB1B-ABD1-F9A3338FA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AD501D-905E-5DD2-F9C1-1A417E7661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870216F-3CFD-11AC-F382-C15FD1E97F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EB671D-6FF1-C304-8406-B073C8D4C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1A0FB-B1E3-4BDC-AD52-D70DBA998491}" type="datetimeFigureOut">
              <a:rPr lang="ko-KR" altLang="en-US" smtClean="0"/>
              <a:t>2024-12-21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71B11B-BC56-E0C2-65D6-909CD8577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02D31A-4C02-4EDD-44B6-A636BD4D5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885E2-791B-47AC-A7DA-6030AE3804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359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1D3DED-F3F8-702E-F5BD-B359EF7F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F672F3-B0DF-9156-38B3-659ADF55B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2679093-A711-041E-A9BE-E3ACC64D29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1760511-BD7F-AF39-3B65-2176FC5176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7A331A2-494B-EAA1-A13A-79865AB4C8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A7C5622-86CF-E6A7-26CE-E0653D758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1A0FB-B1E3-4BDC-AD52-D70DBA998491}" type="datetimeFigureOut">
              <a:rPr lang="ko-KR" altLang="en-US" smtClean="0"/>
              <a:t>2024-12-21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28CC79F-C5A9-FD47-709E-606988571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028B727-6D3A-4B29-BC3F-77247A144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885E2-791B-47AC-A7DA-6030AE3804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601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CD94DA-142A-B7B4-F82A-1B9947ED1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E97C595-B5AC-E1D0-E6D8-1D8A16BC2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1A0FB-B1E3-4BDC-AD52-D70DBA998491}" type="datetimeFigureOut">
              <a:rPr lang="ko-KR" altLang="en-US" smtClean="0"/>
              <a:t>2024-12-21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4468F64-6CDE-99BC-DAF1-EEAEFAF83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1718DBF-4D82-57E2-FD25-F41A6ACF4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885E2-791B-47AC-A7DA-6030AE3804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8952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5FDFCCD-71D1-4DEE-F55A-15F83D401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1A0FB-B1E3-4BDC-AD52-D70DBA998491}" type="datetimeFigureOut">
              <a:rPr lang="ko-KR" altLang="en-US" smtClean="0"/>
              <a:t>2024-12-21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07803A6-C019-6D3A-B316-9611D839E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53DE25-D5C9-FCDB-E002-89F3BAAB5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885E2-791B-47AC-A7DA-6030AE3804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3332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9384D6-5E9D-7494-D146-98944AACA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CE2244-CBE1-CE75-0A22-BFF1CE2BD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76DC762-8817-A426-16BA-8644C7765F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930E05-6C33-E5B8-CE1D-064CC2791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1A0FB-B1E3-4BDC-AD52-D70DBA998491}" type="datetimeFigureOut">
              <a:rPr lang="ko-KR" altLang="en-US" smtClean="0"/>
              <a:t>2024-12-21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54D4DED-2003-0E2A-4E5B-6FEAB937C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717EE7-B541-6A76-BA01-D0F2F9C97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885E2-791B-47AC-A7DA-6030AE3804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7303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3B6A35-60F6-C5D8-BC35-13B3DE5B8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D46E754-1068-725D-FDB4-A7D1C32A81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50FF01-5689-3FC7-5D40-887D43035E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A77F472-72FF-F08F-23BA-29C826E66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1A0FB-B1E3-4BDC-AD52-D70DBA998491}" type="datetimeFigureOut">
              <a:rPr lang="ko-KR" altLang="en-US" smtClean="0"/>
              <a:t>2024-12-21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E1336-E2DE-91F4-9520-BFB4F9677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D4AA641-0C2D-AF3F-1D07-273E8D4E1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885E2-791B-47AC-A7DA-6030AE3804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90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746F78-1711-A465-7656-DF37F9C8A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10C9B7B-A860-CF5E-7009-31EF294BBC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F86D85-0BA3-B24A-EB43-BB3258E51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1A0FB-B1E3-4BDC-AD52-D70DBA998491}" type="datetimeFigureOut">
              <a:rPr lang="ko-KR" altLang="en-US" smtClean="0"/>
              <a:t>2024-12-21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AE9CBD-89C5-B558-99C6-523B971AE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BB20C5-BF66-B9AF-8525-5509053ED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885E2-791B-47AC-A7DA-6030AE3804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5460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9C44A5E-3304-5736-D1AD-EDC253DFC6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B131AF3-7671-F38F-14F9-926C536039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A369EE-BC12-4563-0D72-6696DF1DE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1A0FB-B1E3-4BDC-AD52-D70DBA998491}" type="datetimeFigureOut">
              <a:rPr lang="ko-KR" altLang="en-US" smtClean="0"/>
              <a:t>2024-12-21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59FE11-5231-5BA9-DB5A-E2CF4DE8C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44867F-1236-F030-6A33-73A3E5792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885E2-791B-47AC-A7DA-6030AE3804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3075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E49D05A-6B8C-4AEA-625E-8D3009BD1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9DCBD8-5B6E-9252-247B-AA011DA20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823956-9F32-6976-A926-FC1671978C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91A0FB-B1E3-4BDC-AD52-D70DBA998491}" type="datetimeFigureOut">
              <a:rPr lang="ko-KR" altLang="en-US" smtClean="0"/>
              <a:t>2024-12-21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7D5114-8716-EF73-D49C-0428F238EF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22E089-CDDA-0264-1C98-30ECB29941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885E2-791B-47AC-A7DA-6030AE3804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0838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customXml" Target="../ink/ink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customXml" Target="../ink/ink1.xml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41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.xml"/><Relationship Id="rId5" Type="http://schemas.openxmlformats.org/officeDocument/2006/relationships/image" Target="../media/image310.png"/><Relationship Id="rId4" Type="http://schemas.openxmlformats.org/officeDocument/2006/relationships/customXml" Target="../ink/ink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customXml" Target="../ink/ink7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6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A7B4A6-8BF9-B7CC-48B2-0686F3A509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바이러스 동역학</a:t>
            </a:r>
            <a:r>
              <a:rPr lang="en-US" altLang="ko-KR" dirty="0"/>
              <a:t> </a:t>
            </a:r>
            <a:r>
              <a:rPr lang="ko-KR" altLang="en-US" dirty="0"/>
              <a:t>모델의 </a:t>
            </a:r>
            <a:r>
              <a:rPr lang="en-US" altLang="ko-KR" dirty="0"/>
              <a:t>fitting</a:t>
            </a:r>
            <a:r>
              <a:rPr lang="ko-KR" altLang="en-US" dirty="0"/>
              <a:t>을 통한 </a:t>
            </a:r>
            <a:br>
              <a:rPr lang="en-US" altLang="ko-KR" dirty="0"/>
            </a:br>
            <a:r>
              <a:rPr lang="en-US" altLang="ko-KR" dirty="0" err="1"/>
              <a:t>classfication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1C05AE6-A46A-A563-E6A4-3E96EA84AC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202210664 </a:t>
            </a:r>
            <a:r>
              <a:rPr lang="ko-KR" altLang="en-US" dirty="0"/>
              <a:t>박치현</a:t>
            </a:r>
          </a:p>
        </p:txBody>
      </p:sp>
    </p:spTree>
    <p:extLst>
      <p:ext uri="{BB962C8B-B14F-4D97-AF65-F5344CB8AC3E}">
        <p14:creationId xmlns:p14="http://schemas.microsoft.com/office/powerpoint/2010/main" val="4088922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C075FF-CC93-033F-3BA2-B547E76A1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0991"/>
            <a:ext cx="10515600" cy="1325563"/>
          </a:xfrm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바이러스 동역학</a:t>
            </a:r>
            <a:r>
              <a:rPr lang="en-US" altLang="ko-KR" dirty="0"/>
              <a:t> </a:t>
            </a:r>
            <a:r>
              <a:rPr lang="ko-KR" altLang="en-US" dirty="0"/>
              <a:t>모델 설명</a:t>
            </a:r>
          </a:p>
        </p:txBody>
      </p:sp>
    </p:spTree>
    <p:extLst>
      <p:ext uri="{BB962C8B-B14F-4D97-AF65-F5344CB8AC3E}">
        <p14:creationId xmlns:p14="http://schemas.microsoft.com/office/powerpoint/2010/main" val="2048680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1FA7A1-4183-74F1-73C7-0DCA78086E3F}"/>
              </a:ext>
            </a:extLst>
          </p:cNvPr>
          <p:cNvSpPr txBox="1"/>
          <p:nvPr/>
        </p:nvSpPr>
        <p:spPr>
          <a:xfrm>
            <a:off x="708334" y="642430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바이러스 동역학 모델</a:t>
            </a:r>
            <a:r>
              <a:rPr lang="en-US" altLang="ko-KR" dirty="0"/>
              <a:t>(Viral Dynamics Model)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4759B892-5588-A02A-7712-4C0B3956AA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98290" y="1566162"/>
                <a:ext cx="7802136" cy="34163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ko-KR" altLang="ko-KR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T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: 감염되지 않은 세포 (Target </a:t>
                </a:r>
                <a:r>
                  <a:rPr kumimoji="0" lang="ko-KR" altLang="ko-K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Cells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)</a:t>
                </a:r>
                <a:endParaRPr kumimoji="0" lang="en-US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altLang="ko-KR" dirty="0">
                    <a:latin typeface="Arial" panose="020B0604020202020204" pitchFamily="34" charset="0"/>
                  </a:rPr>
                  <a:t>T</a:t>
                </a:r>
                <a:r>
                  <a:rPr lang="ko-KR" altLang="en-US" dirty="0">
                    <a:latin typeface="Arial" panose="020B0604020202020204" pitchFamily="34" charset="0"/>
                  </a:rPr>
                  <a:t>는 </a:t>
                </a:r>
                <a:r>
                  <a:rPr lang="en-US" altLang="ko-KR" dirty="0">
                    <a:latin typeface="Arial" panose="020B0604020202020204" pitchFamily="34" charset="0"/>
                  </a:rPr>
                  <a:t>V</a:t>
                </a:r>
                <a:r>
                  <a:rPr lang="ko-KR" altLang="en-US" dirty="0">
                    <a:latin typeface="Arial" panose="020B0604020202020204" pitchFamily="34" charset="0"/>
                  </a:rPr>
                  <a:t>에 의해 </a:t>
                </a:r>
                <a:r>
                  <a:rPr lang="en-US" altLang="ko-KR" dirty="0">
                    <a:latin typeface="Arial" panose="020B0604020202020204" pitchFamily="34" charset="0"/>
                  </a:rPr>
                  <a:t>I</a:t>
                </a:r>
                <a:r>
                  <a:rPr lang="ko-KR" altLang="en-US" dirty="0">
                    <a:latin typeface="Arial" panose="020B0604020202020204" pitchFamily="34" charset="0"/>
                  </a:rPr>
                  <a:t>로 변하며</a:t>
                </a:r>
                <a:r>
                  <a:rPr lang="en-US" altLang="ko-KR" dirty="0">
                    <a:latin typeface="Arial" panose="020B0604020202020204" pitchFamily="34" charset="0"/>
                  </a:rPr>
                  <a:t>, </a:t>
                </a:r>
                <a:r>
                  <a:rPr lang="ko-KR" altLang="en-US" dirty="0">
                    <a:latin typeface="Arial" panose="020B0604020202020204" pitchFamily="34" charset="0"/>
                  </a:rPr>
                  <a:t>감소한다</a:t>
                </a:r>
                <a:r>
                  <a:rPr lang="en-US" altLang="ko-KR" dirty="0">
                    <a:latin typeface="Arial" panose="020B0604020202020204" pitchFamily="34" charset="0"/>
                  </a:rPr>
                  <a:t>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ko-KR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ko-KR" altLang="ko-KR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I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: 감염된 세포 (</a:t>
                </a:r>
                <a:r>
                  <a:rPr kumimoji="0" lang="ko-KR" altLang="ko-K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Infected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r>
                  <a:rPr kumimoji="0" lang="ko-KR" altLang="ko-K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Cells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)</a:t>
                </a:r>
                <a:endParaRPr kumimoji="0" lang="en-US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altLang="ko-KR" dirty="0">
                    <a:latin typeface="Arial" panose="020B0604020202020204" pitchFamily="34" charset="0"/>
                  </a:rPr>
                  <a:t>I</a:t>
                </a:r>
                <a:r>
                  <a:rPr lang="ko-KR" altLang="en-US" dirty="0">
                    <a:latin typeface="Arial" panose="020B0604020202020204" pitchFamily="34" charset="0"/>
                  </a:rPr>
                  <a:t>는 감염된 </a:t>
                </a:r>
                <a:r>
                  <a:rPr lang="en-US" altLang="ko-KR" dirty="0">
                    <a:latin typeface="Arial" panose="020B0604020202020204" pitchFamily="34" charset="0"/>
                  </a:rPr>
                  <a:t>T</a:t>
                </a:r>
                <a:r>
                  <a:rPr lang="ko-KR" altLang="en-US" dirty="0">
                    <a:latin typeface="Arial" panose="020B0604020202020204" pitchFamily="34" charset="0"/>
                  </a:rPr>
                  <a:t>만큼 수가 증가하고</a:t>
                </a:r>
                <a:r>
                  <a:rPr lang="en-US" altLang="ko-KR" dirty="0">
                    <a:latin typeface="Arial" panose="020B0604020202020204" pitchFamily="34" charset="0"/>
                  </a:rPr>
                  <a:t>, </a:t>
                </a:r>
                <a:r>
                  <a:rPr lang="ko-KR" altLang="en-US" dirty="0">
                    <a:latin typeface="Arial" panose="020B0604020202020204" pitchFamily="34" charset="0"/>
                  </a:rPr>
                  <a:t>일정 비율로 사멸한다</a:t>
                </a:r>
                <a:r>
                  <a:rPr lang="en-US" altLang="ko-KR" dirty="0">
                    <a:latin typeface="Arial" panose="020B0604020202020204" pitchFamily="34" charset="0"/>
                  </a:rPr>
                  <a:t>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kumimoji="0" lang="ko-KR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ko-KR" altLang="ko-KR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V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: 바이러스 입자 (</a:t>
                </a:r>
                <a:r>
                  <a:rPr kumimoji="0" lang="ko-KR" altLang="ko-K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Virus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r>
                  <a:rPr kumimoji="0" lang="ko-KR" altLang="ko-K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Particles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) </a:t>
                </a:r>
                <a:endParaRPr kumimoji="0" lang="en-US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V</a:t>
                </a:r>
                <a:r>
                  <a:rPr kumimoji="0" lang="ko-KR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는 </a:t>
                </a:r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I</a:t>
                </a:r>
                <a:r>
                  <a:rPr kumimoji="0" lang="ko-KR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에서 생긴 새로운</a:t>
                </a:r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r>
                  <a:rPr kumimoji="0" lang="ko-KR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바이러스 만큼 수가 증가하고</a:t>
                </a:r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, </a:t>
                </a:r>
                <a:r>
                  <a:rPr lang="ko-KR" altLang="en-US" dirty="0">
                    <a:latin typeface="Arial" panose="020B0604020202020204" pitchFamily="34" charset="0"/>
                  </a:rPr>
                  <a:t>일정비율로 제거된다</a:t>
                </a:r>
                <a:r>
                  <a:rPr lang="en-US" altLang="ko-KR" dirty="0">
                    <a:latin typeface="Arial" panose="020B0604020202020204" pitchFamily="34" charset="0"/>
                  </a:rPr>
                  <a:t>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lang="en-US" altLang="ko-KR" dirty="0">
                  <a:latin typeface="Arial" panose="020B0604020202020204" pitchFamily="34" charset="0"/>
                </a:endParaRPr>
              </a:p>
              <a:p>
                <a:pPr lv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: </a:t>
                </a:r>
                <a:r>
                  <a:rPr kumimoji="0" lang="ko-KR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감염률</a:t>
                </a:r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𝜹</m:t>
                    </m:r>
                  </m:oMath>
                </a14:m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: </a:t>
                </a:r>
                <a:r>
                  <a:rPr kumimoji="0" lang="ko-KR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감염된 세포의 </a:t>
                </a:r>
                <a:r>
                  <a:rPr kumimoji="0" lang="ko-KR" altLang="en-US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사멸율</a:t>
                </a:r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, </a:t>
                </a:r>
                <a:endParaRPr lang="en-US" altLang="ko-KR" dirty="0">
                  <a:latin typeface="Cambria Math" panose="02040503050406030204" pitchFamily="18" charset="0"/>
                </a:endParaRPr>
              </a:p>
              <a:p>
                <a:pPr lv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𝞠</m:t>
                    </m:r>
                  </m:oMath>
                </a14:m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: </a:t>
                </a:r>
                <a:r>
                  <a:rPr kumimoji="0" lang="ko-KR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감염된 세포가 생산하는 바이러스 수</a:t>
                </a:r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𝗰</m:t>
                    </m:r>
                  </m:oMath>
                </a14:m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: </a:t>
                </a:r>
                <a:r>
                  <a:rPr kumimoji="0" lang="ko-KR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제거되는 바이러스의 비율</a:t>
                </a:r>
                <a:endParaRPr kumimoji="0" lang="en-US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4759B892-5588-A02A-7712-4C0B3956AA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98290" y="1566162"/>
                <a:ext cx="7802136" cy="3416320"/>
              </a:xfrm>
              <a:prstGeom prst="rect">
                <a:avLst/>
              </a:prstGeom>
              <a:blipFill>
                <a:blip r:embed="rId2"/>
                <a:stretch>
                  <a:fillRect l="-625" t="-536" b="-267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F0AFDC-410A-8908-CB67-022464B53BE1}"/>
                  </a:ext>
                </a:extLst>
              </p:cNvPr>
              <p:cNvSpPr txBox="1"/>
              <p:nvPr/>
            </p:nvSpPr>
            <p:spPr>
              <a:xfrm>
                <a:off x="708334" y="1732764"/>
                <a:ext cx="2520947" cy="1843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𝑑𝑇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𝜷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V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r>
                  <a:rPr lang="en-US" altLang="ko-KR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𝑑𝐼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𝜷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V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𝜹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ko-KR" b="0" dirty="0"/>
                  <a:t> </a:t>
                </a:r>
              </a:p>
              <a:p>
                <a:endParaRPr lang="en-US" altLang="ko-KR" b="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𝑑𝑉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𝞠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I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𝗰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ko-KR" b="0" dirty="0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F0AFDC-410A-8908-CB67-022464B53B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34" y="1732764"/>
                <a:ext cx="2520947" cy="18431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왼쪽 중괄호 7">
            <a:extLst>
              <a:ext uri="{FF2B5EF4-FFF2-40B4-BE49-F238E27FC236}">
                <a16:creationId xmlns:a16="http://schemas.microsoft.com/office/drawing/2014/main" id="{456CF022-1C3B-ED1E-FAA2-844422501DA8}"/>
              </a:ext>
            </a:extLst>
          </p:cNvPr>
          <p:cNvSpPr/>
          <p:nvPr/>
        </p:nvSpPr>
        <p:spPr>
          <a:xfrm>
            <a:off x="322226" y="1843741"/>
            <a:ext cx="386108" cy="184858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5640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9B05F6-9053-7CB2-08F9-360F22448AC5}"/>
              </a:ext>
            </a:extLst>
          </p:cNvPr>
          <p:cNvSpPr txBox="1"/>
          <p:nvPr/>
        </p:nvSpPr>
        <p:spPr>
          <a:xfrm>
            <a:off x="1207911" y="377763"/>
            <a:ext cx="6604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바이러스 입자</a:t>
            </a:r>
            <a:r>
              <a:rPr lang="ko-KR" altLang="en-US" dirty="0"/>
              <a:t>가 </a:t>
            </a:r>
            <a:r>
              <a:rPr lang="ko-KR" altLang="en-US" b="1" dirty="0"/>
              <a:t>빠르게 평형 상태에 도달</a:t>
            </a:r>
            <a:r>
              <a:rPr lang="ko-KR" altLang="en-US" dirty="0"/>
              <a:t>한다고 가정 </a:t>
            </a:r>
            <a:endParaRPr lang="en-US" altLang="ko-KR" dirty="0"/>
          </a:p>
          <a:p>
            <a:r>
              <a:rPr lang="en-US" altLang="ko-KR" b="1" dirty="0"/>
              <a:t>Quasi-Steady-State Approximation(QSSA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b="1" dirty="0"/>
              <a:t>감염 과정</a:t>
            </a:r>
            <a:r>
              <a:rPr lang="ko-KR" altLang="en-US" dirty="0"/>
              <a:t>에서 바이러스 입자 </a:t>
            </a:r>
            <a:r>
              <a:rPr lang="en-US" altLang="ko-KR" dirty="0"/>
              <a:t>V(t)</a:t>
            </a:r>
            <a:r>
              <a:rPr lang="ko-KR" altLang="en-US" dirty="0"/>
              <a:t>가 빠르게 변화하고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감염된 세포 </a:t>
            </a:r>
            <a:r>
              <a:rPr lang="en-US" altLang="ko-KR" dirty="0"/>
              <a:t>I(t)</a:t>
            </a:r>
            <a:r>
              <a:rPr lang="ko-KR" altLang="en-US" dirty="0"/>
              <a:t>는 상대적으로 느리게 변화한다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C229CB-B854-B640-1274-8CC4715BE6A8}"/>
                  </a:ext>
                </a:extLst>
              </p:cNvPr>
              <p:cNvSpPr txBox="1"/>
              <p:nvPr/>
            </p:nvSpPr>
            <p:spPr>
              <a:xfrm>
                <a:off x="1377244" y="2133489"/>
                <a:ext cx="6604000" cy="11807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𝑑𝐼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𝜷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V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𝜹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ko-KR" b="0" dirty="0"/>
                  <a:t> </a:t>
                </a:r>
              </a:p>
              <a:p>
                <a:endParaRPr lang="en-US" altLang="ko-KR" b="0" dirty="0"/>
              </a:p>
              <a:p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𝜷</m:t>
                        </m:r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ko-KR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V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ko-KR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num>
                      <m:den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𝜹</m:t>
                        </m:r>
                      </m:den>
                    </m:f>
                  </m:oMath>
                </a14:m>
                <a:r>
                  <a:rPr lang="en-US" altLang="ko-KR" b="0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C229CB-B854-B640-1274-8CC4715BE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7244" y="2133489"/>
                <a:ext cx="6604000" cy="1180708"/>
              </a:xfrm>
              <a:prstGeom prst="rect">
                <a:avLst/>
              </a:prstGeom>
              <a:blipFill>
                <a:blip r:embed="rId3"/>
                <a:stretch>
                  <a:fillRect b="-5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0424668-680B-D7AA-55F8-57B670E49EB1}"/>
                  </a:ext>
                </a:extLst>
              </p:cNvPr>
              <p:cNvSpPr txBox="1"/>
              <p:nvPr/>
            </p:nvSpPr>
            <p:spPr>
              <a:xfrm>
                <a:off x="1377244" y="3892990"/>
                <a:ext cx="6406818" cy="18485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𝑑𝑇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𝜷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V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r>
                  <a:rPr lang="en-US" altLang="ko-KR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𝑑𝐼</m:t>
                        </m:r>
                      </m:num>
                      <m:den>
                        <m:r>
                          <a:rPr lang="en-US" altLang="ko-KR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ko-KR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𝜷</m:t>
                    </m:r>
                    <m:r>
                      <m:rPr>
                        <m:sty m:val="p"/>
                      </m:rPr>
                      <a:rPr lang="en-US" altLang="ko-KR" b="0" i="0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US" altLang="ko-KR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m:rPr>
                        <m:sty m:val="p"/>
                      </m:rPr>
                      <a:rPr lang="en-US" altLang="ko-KR" b="0" i="0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V</m:t>
                    </m:r>
                    <m:d>
                      <m:dPr>
                        <m:ctrlPr>
                          <a:rPr lang="en-US" altLang="ko-KR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altLang="ko-KR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𝜹</m:t>
                    </m:r>
                    <m:r>
                      <a:rPr lang="en-US" altLang="ko-KR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altLang="ko-KR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ko-KR" b="0" dirty="0">
                    <a:solidFill>
                      <a:schemeClr val="bg1">
                        <a:lumMod val="75000"/>
                      </a:schemeClr>
                    </a:solidFill>
                  </a:rPr>
                  <a:t> </a:t>
                </a:r>
              </a:p>
              <a:p>
                <a:endParaRPr lang="en-US" altLang="ko-KR" b="0" dirty="0">
                  <a:solidFill>
                    <a:schemeClr val="bg1">
                      <a:lumMod val="75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𝑑𝑉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𝞠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I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𝗰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𝞠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𝜷</m:t>
                        </m:r>
                      </m:num>
                      <m:den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𝜹</m:t>
                        </m:r>
                      </m:den>
                    </m:f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V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𝗰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𝜸</m:t>
                    </m:r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V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𝗰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ko-KR" dirty="0"/>
                  <a:t> </a:t>
                </a:r>
                <a:endParaRPr lang="en-US" altLang="ko-KR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0424668-680B-D7AA-55F8-57B670E49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7244" y="3892990"/>
                <a:ext cx="6406818" cy="18485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6A2884F4-4F4C-9302-5184-3C7E1017FB85}"/>
                  </a:ext>
                </a:extLst>
              </p14:cNvPr>
              <p14:cNvContentPartPr/>
              <p14:nvPr/>
            </p14:nvContentPartPr>
            <p14:xfrm>
              <a:off x="1376253" y="4062286"/>
              <a:ext cx="1689480" cy="185760"/>
            </p14:xfrm>
          </p:contentPart>
        </mc:Choice>
        <mc:Fallback xmlns=""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6A2884F4-4F4C-9302-5184-3C7E1017FB8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22253" y="3954286"/>
                <a:ext cx="1797120" cy="40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5A2D73A1-D181-AB3B-DD69-B8F061109FA8}"/>
                  </a:ext>
                </a:extLst>
              </p14:cNvPr>
              <p14:cNvContentPartPr/>
              <p14:nvPr/>
            </p14:nvContentPartPr>
            <p14:xfrm>
              <a:off x="1423773" y="5398606"/>
              <a:ext cx="299520" cy="173520"/>
            </p14:xfrm>
          </p:contentPart>
        </mc:Choice>
        <mc:Fallback xmlns=""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5A2D73A1-D181-AB3B-DD69-B8F061109FA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70133" y="5290966"/>
                <a:ext cx="407160" cy="38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4B36A955-2991-926A-F511-46D6A3D9A395}"/>
                  </a:ext>
                </a:extLst>
              </p14:cNvPr>
              <p14:cNvContentPartPr/>
              <p14:nvPr/>
            </p14:nvContentPartPr>
            <p14:xfrm>
              <a:off x="5544333" y="5423806"/>
              <a:ext cx="2212200" cy="191160"/>
            </p14:xfrm>
          </p:contentPart>
        </mc:Choice>
        <mc:Fallback xmlns=""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4B36A955-2991-926A-F511-46D6A3D9A39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90333" y="5315806"/>
                <a:ext cx="2319840" cy="406800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왼쪽 중괄호 20">
            <a:extLst>
              <a:ext uri="{FF2B5EF4-FFF2-40B4-BE49-F238E27FC236}">
                <a16:creationId xmlns:a16="http://schemas.microsoft.com/office/drawing/2014/main" id="{C3FF5640-0954-E436-437B-6BD41D7E3645}"/>
              </a:ext>
            </a:extLst>
          </p:cNvPr>
          <p:cNvSpPr/>
          <p:nvPr/>
        </p:nvSpPr>
        <p:spPr>
          <a:xfrm>
            <a:off x="821803" y="4042931"/>
            <a:ext cx="386108" cy="184858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19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E2C3D-91CD-B465-C810-C275E8B84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7919B9-4C2B-FB76-6851-044ADDCDC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11" y="2668059"/>
            <a:ext cx="10515600" cy="1325563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하나의 데이터에 대하여 </a:t>
            </a:r>
            <a:r>
              <a:rPr lang="en-US" altLang="ko-KR" dirty="0"/>
              <a:t>fitting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7941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DF1B1EE-C72F-5983-E244-38F69A6571A8}"/>
                  </a:ext>
                </a:extLst>
              </p:cNvPr>
              <p:cNvSpPr txBox="1"/>
              <p:nvPr/>
            </p:nvSpPr>
            <p:spPr>
              <a:xfrm>
                <a:off x="759994" y="864092"/>
                <a:ext cx="2568011" cy="11672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𝑑𝑇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𝜷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V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r>
                  <a:rPr lang="en-US" altLang="ko-KR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endParaRPr lang="en-US" altLang="ko-KR" b="0" dirty="0">
                  <a:solidFill>
                    <a:schemeClr val="bg1">
                      <a:lumMod val="75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𝑑𝑉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𝜸</m:t>
                    </m:r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V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𝗰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ko-KR" dirty="0"/>
                  <a:t> </a:t>
                </a:r>
                <a:endParaRPr lang="en-US" altLang="ko-KR" b="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DF1B1EE-C72F-5983-E244-38F69A657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994" y="864092"/>
                <a:ext cx="2568011" cy="1167243"/>
              </a:xfrm>
              <a:prstGeom prst="rect">
                <a:avLst/>
              </a:prstGeom>
              <a:blipFill>
                <a:blip r:embed="rId2"/>
                <a:stretch>
                  <a:fillRect b="-5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10B12D53-4732-3FE1-DAFC-A925C26AC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457" y="2965493"/>
            <a:ext cx="2598645" cy="104403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097D659-C185-E0BB-4723-A6A194A6D7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234" y="4826665"/>
            <a:ext cx="5509737" cy="89923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41AEDB0-3308-17E2-1BFF-7037D7C9A8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4888" y="334369"/>
            <a:ext cx="5349704" cy="303302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6BD9449-9D42-A725-8532-23257DB2EB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541" y="3487508"/>
            <a:ext cx="5563082" cy="3063505"/>
          </a:xfrm>
          <a:prstGeom prst="rect">
            <a:avLst/>
          </a:prstGeom>
        </p:spPr>
      </p:pic>
      <p:sp>
        <p:nvSpPr>
          <p:cNvPr id="13" name="왼쪽 중괄호 12">
            <a:extLst>
              <a:ext uri="{FF2B5EF4-FFF2-40B4-BE49-F238E27FC236}">
                <a16:creationId xmlns:a16="http://schemas.microsoft.com/office/drawing/2014/main" id="{EACD33D1-9AFC-6EB1-1083-E4844845E2BE}"/>
              </a:ext>
            </a:extLst>
          </p:cNvPr>
          <p:cNvSpPr/>
          <p:nvPr/>
        </p:nvSpPr>
        <p:spPr>
          <a:xfrm>
            <a:off x="373886" y="827759"/>
            <a:ext cx="386108" cy="123990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085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1BB4710-4192-AD7C-4931-B5025595D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2602" y="1345758"/>
            <a:ext cx="2941575" cy="384843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47EEFAB-42B8-CA44-FE58-981B42264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2602" y="5645425"/>
            <a:ext cx="6496479" cy="526742"/>
          </a:xfrm>
          <a:prstGeom prst="rect">
            <a:avLst/>
          </a:prstGeom>
        </p:spPr>
      </p:pic>
      <p:pic>
        <p:nvPicPr>
          <p:cNvPr id="10242" name="Picture 2">
            <a:extLst>
              <a:ext uri="{FF2B5EF4-FFF2-40B4-BE49-F238E27FC236}">
                <a16:creationId xmlns:a16="http://schemas.microsoft.com/office/drawing/2014/main" id="{77FE03CA-90BA-7421-CB6F-9F7F16007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2204" y="1212575"/>
            <a:ext cx="5400675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FCC6329-ADDE-0F81-BC76-E98B9E2F75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128" y="2560244"/>
            <a:ext cx="1790855" cy="1737511"/>
          </a:xfrm>
          <a:prstGeom prst="rect">
            <a:avLst/>
          </a:prstGeom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42DC5E25-B1EB-B4F0-2D93-C9ED8772AA3C}"/>
              </a:ext>
            </a:extLst>
          </p:cNvPr>
          <p:cNvSpPr/>
          <p:nvPr/>
        </p:nvSpPr>
        <p:spPr>
          <a:xfrm>
            <a:off x="2266121" y="3071190"/>
            <a:ext cx="1013791" cy="7156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0203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671A3-CC64-F399-FD61-F71F76BBE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B55AE3-7D6F-85A9-66A1-E318B866E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378" y="2766218"/>
            <a:ext cx="10515600" cy="1325563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en-US" altLang="ko-KR" dirty="0" err="1"/>
              <a:t>classficaition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2742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E279D9B7-34EC-5ED6-BAB3-AF7E1D398B16}"/>
              </a:ext>
            </a:extLst>
          </p:cNvPr>
          <p:cNvSpPr/>
          <p:nvPr/>
        </p:nvSpPr>
        <p:spPr>
          <a:xfrm>
            <a:off x="5547360" y="4450080"/>
            <a:ext cx="1195707" cy="6705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0E90ED-3CC6-5B02-BDCC-BBF4FBD41E3C}"/>
              </a:ext>
            </a:extLst>
          </p:cNvPr>
          <p:cNvSpPr txBox="1"/>
          <p:nvPr/>
        </p:nvSpPr>
        <p:spPr>
          <a:xfrm>
            <a:off x="1479690" y="1099125"/>
            <a:ext cx="93151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/>
              <a:t>두 개 이상의 </a:t>
            </a:r>
            <a:r>
              <a:rPr lang="en-US" altLang="ko-KR" sz="2800" dirty="0" err="1"/>
              <a:t>Viralload</a:t>
            </a:r>
            <a:r>
              <a:rPr lang="ko-KR" altLang="en-US" sz="2800" dirty="0"/>
              <a:t>데이터들의 </a:t>
            </a:r>
            <a:r>
              <a:rPr lang="en-US" altLang="ko-KR" sz="2800" dirty="0"/>
              <a:t>label</a:t>
            </a:r>
            <a:r>
              <a:rPr lang="ko-KR" altLang="en-US" sz="2800" dirty="0"/>
              <a:t>를 </a:t>
            </a:r>
            <a:r>
              <a:rPr lang="ko-KR" altLang="en-US" sz="2800" dirty="0" err="1"/>
              <a:t>제거하였을때</a:t>
            </a:r>
            <a:r>
              <a:rPr lang="en-US" altLang="ko-KR" sz="2800" dirty="0"/>
              <a:t>,</a:t>
            </a:r>
            <a:r>
              <a:rPr lang="ko-KR" altLang="en-US" sz="2800" dirty="0"/>
              <a:t> 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A94F4CFA-3C1D-4C66-ADFA-5E2F57D21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4665" y="2924174"/>
            <a:ext cx="5086350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C5D5BE7A-3CB6-FA6A-060F-6985DE5DA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707" y="2934113"/>
            <a:ext cx="5086350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4156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9D515-1A3C-69F9-F25E-215AA7377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B745FE2-A42B-5CB3-7439-94616DB671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4665" y="2924175"/>
            <a:ext cx="5086350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8EDAA38-49B8-A8F7-2E9D-8E32EF5DE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707" y="2934113"/>
            <a:ext cx="5086350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9613004D-2D58-7036-8AF6-2EAB3712C2FC}"/>
              </a:ext>
            </a:extLst>
          </p:cNvPr>
          <p:cNvSpPr/>
          <p:nvPr/>
        </p:nvSpPr>
        <p:spPr>
          <a:xfrm>
            <a:off x="5547360" y="4450080"/>
            <a:ext cx="1195707" cy="6705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2E41DD-7D3A-B459-24FB-D2BC91E6B4AA}"/>
              </a:ext>
            </a:extLst>
          </p:cNvPr>
          <p:cNvSpPr txBox="1"/>
          <p:nvPr/>
        </p:nvSpPr>
        <p:spPr>
          <a:xfrm>
            <a:off x="1479690" y="1099125"/>
            <a:ext cx="889833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/>
              <a:t>바이러스 동역학 모델을 따르는 </a:t>
            </a:r>
            <a:r>
              <a:rPr lang="en-US" altLang="ko-KR" sz="2800" dirty="0"/>
              <a:t>COV2, SARS </a:t>
            </a:r>
            <a:r>
              <a:rPr lang="ko-KR" altLang="en-US" sz="2800" dirty="0"/>
              <a:t>데이터를</a:t>
            </a:r>
            <a:endParaRPr lang="en-US" altLang="ko-KR" sz="2800" dirty="0"/>
          </a:p>
          <a:p>
            <a:r>
              <a:rPr lang="ko-KR" altLang="en-US" sz="2800" dirty="0"/>
              <a:t> 두가지의 파라미터 세트로 동시에 피팅을 진행하여</a:t>
            </a:r>
            <a:endParaRPr lang="en-US" altLang="ko-KR" sz="2800" dirty="0"/>
          </a:p>
          <a:p>
            <a:r>
              <a:rPr lang="ko-KR" altLang="en-US" sz="2800" dirty="0"/>
              <a:t>분류를 할 수 있을까</a:t>
            </a:r>
            <a:r>
              <a:rPr lang="en-US" altLang="ko-KR" sz="2800" dirty="0"/>
              <a:t>?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143649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840F5-B0FA-F60E-FAAA-D678C9E18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BDCE9CB-1F8C-6417-7E0E-041150D0B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4665" y="2924175"/>
            <a:ext cx="5086350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A9679B3-36BC-4355-6818-6CC98C162D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585" y="2924174"/>
            <a:ext cx="5086350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4299524E-43DF-FC72-550F-99B89E8B6C53}"/>
              </a:ext>
            </a:extLst>
          </p:cNvPr>
          <p:cNvSpPr/>
          <p:nvPr/>
        </p:nvSpPr>
        <p:spPr>
          <a:xfrm>
            <a:off x="5547360" y="4450080"/>
            <a:ext cx="1195707" cy="6705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FBE204-1B76-73CE-C155-2B1CB9EDC1AB}"/>
              </a:ext>
            </a:extLst>
          </p:cNvPr>
          <p:cNvSpPr txBox="1"/>
          <p:nvPr/>
        </p:nvSpPr>
        <p:spPr>
          <a:xfrm>
            <a:off x="5882640" y="3995420"/>
            <a:ext cx="43954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/>
              <a:t>?</a:t>
            </a:r>
            <a:endParaRPr lang="ko-KR" altLang="en-US" sz="44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F6FFBEB3-7387-510D-8B9D-88C655B20D7B}"/>
                  </a:ext>
                </a:extLst>
              </p14:cNvPr>
              <p14:cNvContentPartPr/>
              <p14:nvPr/>
            </p14:nvContentPartPr>
            <p14:xfrm>
              <a:off x="7223360" y="4642520"/>
              <a:ext cx="4261680" cy="126792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F6FFBEB3-7387-510D-8B9D-88C655B20D7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87720" y="4606520"/>
                <a:ext cx="4333320" cy="133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49C3FE58-E506-9DCB-8546-EC8968860156}"/>
                  </a:ext>
                </a:extLst>
              </p14:cNvPr>
              <p14:cNvContentPartPr/>
              <p14:nvPr/>
            </p14:nvContentPartPr>
            <p14:xfrm>
              <a:off x="7244240" y="3779960"/>
              <a:ext cx="4410360" cy="257040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49C3FE58-E506-9DCB-8546-EC896886015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08240" y="3743960"/>
                <a:ext cx="4482000" cy="264204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CA93FCF-7D5F-1FC6-3019-DEDFCE32EB76}"/>
              </a:ext>
            </a:extLst>
          </p:cNvPr>
          <p:cNvSpPr txBox="1"/>
          <p:nvPr/>
        </p:nvSpPr>
        <p:spPr>
          <a:xfrm>
            <a:off x="1479690" y="1099125"/>
            <a:ext cx="889833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/>
              <a:t>바이러스 동역학 모델을 따르는 </a:t>
            </a:r>
            <a:r>
              <a:rPr lang="en-US" altLang="ko-KR" sz="2800" dirty="0"/>
              <a:t>COV2, SARS </a:t>
            </a:r>
            <a:r>
              <a:rPr lang="ko-KR" altLang="en-US" sz="2800" dirty="0"/>
              <a:t>데이터를</a:t>
            </a:r>
            <a:endParaRPr lang="en-US" altLang="ko-KR" sz="2800" dirty="0"/>
          </a:p>
          <a:p>
            <a:r>
              <a:rPr lang="ko-KR" altLang="en-US" sz="2800" dirty="0"/>
              <a:t> 두가지의 파라미터 세트로 동시에 피팅을 진행하여</a:t>
            </a:r>
            <a:endParaRPr lang="en-US" altLang="ko-KR" sz="2800" dirty="0"/>
          </a:p>
          <a:p>
            <a:r>
              <a:rPr lang="ko-KR" altLang="en-US" sz="2800" dirty="0"/>
              <a:t>분류를 할 수 있을까</a:t>
            </a:r>
            <a:r>
              <a:rPr lang="en-US" altLang="ko-KR" sz="2800" dirty="0"/>
              <a:t>?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194422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71DE04-F770-AC66-F721-182100B91751}"/>
              </a:ext>
            </a:extLst>
          </p:cNvPr>
          <p:cNvSpPr txBox="1"/>
          <p:nvPr/>
        </p:nvSpPr>
        <p:spPr>
          <a:xfrm>
            <a:off x="1084049" y="1204759"/>
            <a:ext cx="10709983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모든 데이터들 무작위로 섞고</a:t>
            </a:r>
            <a:r>
              <a:rPr lang="en-US" altLang="ko-KR" dirty="0"/>
              <a:t>, </a:t>
            </a:r>
            <a:r>
              <a:rPr lang="ko-KR" altLang="en-US" dirty="0"/>
              <a:t>반으로 나눈다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나뉜 데이터에 따라 각각 두 파라미터를 따로 </a:t>
            </a:r>
            <a:r>
              <a:rPr lang="ko-KR" altLang="en-US" dirty="0" err="1"/>
              <a:t>피팅한다</a:t>
            </a:r>
            <a:r>
              <a:rPr lang="en-US" altLang="ko-KR" dirty="0"/>
              <a:t>. (params1, params2)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 err="1"/>
              <a:t>피팅된</a:t>
            </a:r>
            <a:r>
              <a:rPr lang="ko-KR" altLang="en-US" dirty="0"/>
              <a:t> 두 파라미터</a:t>
            </a:r>
            <a:r>
              <a:rPr lang="en-US" altLang="ko-KR" dirty="0"/>
              <a:t>(params1, params2)</a:t>
            </a:r>
            <a:r>
              <a:rPr lang="ko-KR" altLang="en-US" dirty="0"/>
              <a:t>와 데이터들의 오차를 구한다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4. </a:t>
            </a:r>
            <a:r>
              <a:rPr lang="ko-KR" altLang="en-US" dirty="0"/>
              <a:t>데이터마다 오차가 더 작은 파라미터의 데이터로 선택을 하여 다시 데이터들을 두 그룹으로 나눈다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5. </a:t>
            </a:r>
            <a:r>
              <a:rPr lang="ko-KR" altLang="en-US" dirty="0"/>
              <a:t>나누어진 데이터들의 그룹을 기록한다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 (</a:t>
            </a:r>
            <a:r>
              <a:rPr lang="ko-KR" altLang="en-US" dirty="0"/>
              <a:t>이전의 데이터 그룹이 없거나</a:t>
            </a:r>
            <a:r>
              <a:rPr lang="en-US" altLang="ko-KR" dirty="0"/>
              <a:t>) </a:t>
            </a:r>
            <a:r>
              <a:rPr lang="ko-KR" altLang="en-US" dirty="0"/>
              <a:t>그룹이 다르면 </a:t>
            </a:r>
            <a:r>
              <a:rPr lang="en-US" altLang="ko-KR" dirty="0"/>
              <a:t>2.</a:t>
            </a:r>
            <a:r>
              <a:rPr lang="ko-KR" altLang="en-US" dirty="0"/>
              <a:t>로 돌아간다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   </a:t>
            </a:r>
            <a:r>
              <a:rPr lang="ko-KR" altLang="en-US" dirty="0"/>
              <a:t>이전에 기록된 데이터들의 그룹들과 같으면 루프를 빠져나온다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6.</a:t>
            </a:r>
            <a:r>
              <a:rPr lang="ko-KR" altLang="en-US" dirty="0"/>
              <a:t>각 데이터들은 </a:t>
            </a:r>
            <a:r>
              <a:rPr lang="en-US" altLang="ko-KR" dirty="0"/>
              <a:t>1</a:t>
            </a:r>
            <a:r>
              <a:rPr lang="ko-KR" altLang="en-US" dirty="0"/>
              <a:t>과</a:t>
            </a:r>
            <a:r>
              <a:rPr lang="en-US" altLang="ko-KR" dirty="0"/>
              <a:t> 2</a:t>
            </a:r>
            <a:r>
              <a:rPr lang="ko-KR" altLang="en-US" dirty="0"/>
              <a:t>로 구분한 후 실제 </a:t>
            </a:r>
            <a:r>
              <a:rPr lang="en-US" altLang="ko-KR" dirty="0"/>
              <a:t>label</a:t>
            </a:r>
            <a:r>
              <a:rPr lang="ko-KR" altLang="en-US" dirty="0"/>
              <a:t>대로 구분이 되었는지 확인한다</a:t>
            </a:r>
            <a:endParaRPr lang="en-US" altLang="ko-KR" dirty="0"/>
          </a:p>
        </p:txBody>
      </p:sp>
      <p:sp>
        <p:nvSpPr>
          <p:cNvPr id="3" name="화살표: 오른쪽으로 구부러짐 2">
            <a:extLst>
              <a:ext uri="{FF2B5EF4-FFF2-40B4-BE49-F238E27FC236}">
                <a16:creationId xmlns:a16="http://schemas.microsoft.com/office/drawing/2014/main" id="{3BCE0B54-9079-BD46-A961-AA194BB8B1C8}"/>
              </a:ext>
            </a:extLst>
          </p:cNvPr>
          <p:cNvSpPr/>
          <p:nvPr/>
        </p:nvSpPr>
        <p:spPr>
          <a:xfrm rot="10800000" flipH="1">
            <a:off x="397968" y="2013994"/>
            <a:ext cx="601883" cy="2025569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1199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0386D-3969-83F7-B01F-D1EB1516A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5FE3721-EC10-9F72-A863-3136C6F93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821" y="771001"/>
            <a:ext cx="7369179" cy="560880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367A4CA-D11D-1D2D-3FBA-6C9676713F71}"/>
              </a:ext>
            </a:extLst>
          </p:cNvPr>
          <p:cNvSpPr txBox="1"/>
          <p:nvPr/>
        </p:nvSpPr>
        <p:spPr>
          <a:xfrm>
            <a:off x="293543" y="255265"/>
            <a:ext cx="60942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모든 데이터들 무작위로 섞고</a:t>
            </a:r>
            <a:r>
              <a:rPr lang="en-US" altLang="ko-KR" dirty="0"/>
              <a:t>, </a:t>
            </a:r>
            <a:r>
              <a:rPr lang="ko-KR" altLang="en-US" dirty="0"/>
              <a:t>반으로 나눈다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1AA2E9-CB58-CEAF-2F5C-C92BCED84AA5}"/>
              </a:ext>
            </a:extLst>
          </p:cNvPr>
          <p:cNvSpPr txBox="1"/>
          <p:nvPr/>
        </p:nvSpPr>
        <p:spPr>
          <a:xfrm>
            <a:off x="7340796" y="4850909"/>
            <a:ext cx="46425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disease_time</a:t>
            </a:r>
            <a:r>
              <a:rPr lang="ko-KR" altLang="en-US" dirty="0"/>
              <a:t>과 </a:t>
            </a:r>
            <a:r>
              <a:rPr lang="en-US" altLang="ko-KR" dirty="0" err="1"/>
              <a:t>disease_viralload</a:t>
            </a:r>
            <a:r>
              <a:rPr lang="en-US" altLang="ko-KR" dirty="0"/>
              <a:t> </a:t>
            </a:r>
            <a:r>
              <a:rPr lang="ko-KR" altLang="en-US" dirty="0"/>
              <a:t>리스트에 </a:t>
            </a:r>
            <a:endParaRPr lang="en-US" altLang="ko-KR" dirty="0"/>
          </a:p>
          <a:p>
            <a:r>
              <a:rPr lang="ko-KR" altLang="en-US" dirty="0">
                <a:highlight>
                  <a:srgbClr val="FFFF00"/>
                </a:highlight>
              </a:rPr>
              <a:t>라벨 구분 없이 </a:t>
            </a:r>
            <a:r>
              <a:rPr lang="ko-KR" altLang="en-US" dirty="0"/>
              <a:t>각 질병 데이터를 저장한다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ECCC690-A393-1E98-C3DD-411B308CA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01" y="771001"/>
            <a:ext cx="2034716" cy="458001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015D43B-CAEA-E1E8-3FB2-3B0AB8043C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2217" y="1424582"/>
            <a:ext cx="2255715" cy="309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324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E7F936C-BE93-5CDE-3AD1-B3C8EE793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832" y="2175773"/>
            <a:ext cx="7025220" cy="14194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9C10442-BED4-7FCF-532A-79C7105EE8DB}"/>
              </a:ext>
            </a:extLst>
          </p:cNvPr>
          <p:cNvSpPr txBox="1"/>
          <p:nvPr/>
        </p:nvSpPr>
        <p:spPr>
          <a:xfrm>
            <a:off x="665413" y="4785334"/>
            <a:ext cx="40975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파라미터 세트</a:t>
            </a:r>
            <a:r>
              <a:rPr lang="en-US" altLang="ko-KR" dirty="0"/>
              <a:t>1</a:t>
            </a:r>
          </a:p>
          <a:p>
            <a:endParaRPr lang="en-US" altLang="ko-KR" dirty="0"/>
          </a:p>
          <a:p>
            <a:r>
              <a:rPr lang="en-US" altLang="ko-KR" dirty="0"/>
              <a:t>[6, 7, 3, 2] </a:t>
            </a:r>
            <a:r>
              <a:rPr lang="ko-KR" altLang="en-US" dirty="0"/>
              <a:t>의 질병 데이터를 이용하여</a:t>
            </a:r>
            <a:endParaRPr lang="en-US" altLang="ko-KR" dirty="0"/>
          </a:p>
          <a:p>
            <a:r>
              <a:rPr lang="ko-KR" altLang="en-US" dirty="0"/>
              <a:t>파라미터</a:t>
            </a:r>
            <a:r>
              <a:rPr lang="en-US" altLang="ko-KR" dirty="0"/>
              <a:t>1</a:t>
            </a:r>
            <a:r>
              <a:rPr lang="ko-KR" altLang="en-US" dirty="0"/>
              <a:t>을 </a:t>
            </a:r>
            <a:r>
              <a:rPr lang="en-US" altLang="ko-KR" dirty="0"/>
              <a:t>fitting </a:t>
            </a:r>
            <a:r>
              <a:rPr lang="ko-KR" altLang="en-US" dirty="0"/>
              <a:t>한다</a:t>
            </a:r>
            <a:r>
              <a:rPr lang="en-US" altLang="ko-KR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A452F8-92EB-FCBD-7653-D60E64258AF7}"/>
              </a:ext>
            </a:extLst>
          </p:cNvPr>
          <p:cNvSpPr txBox="1"/>
          <p:nvPr/>
        </p:nvSpPr>
        <p:spPr>
          <a:xfrm>
            <a:off x="6409006" y="4646834"/>
            <a:ext cx="409759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파라미터 세트</a:t>
            </a:r>
            <a:r>
              <a:rPr lang="en-US" altLang="ko-KR" dirty="0"/>
              <a:t>2</a:t>
            </a:r>
          </a:p>
          <a:p>
            <a:endParaRPr lang="en-US" altLang="ko-KR" dirty="0"/>
          </a:p>
          <a:p>
            <a:r>
              <a:rPr lang="en-US" altLang="ko-KR" dirty="0"/>
              <a:t>[0, 5, 4, 1]</a:t>
            </a:r>
            <a:r>
              <a:rPr lang="ko-KR" altLang="en-US" dirty="0"/>
              <a:t> 의 질병 데이터를 이용하여</a:t>
            </a:r>
            <a:endParaRPr lang="en-US" altLang="ko-KR" dirty="0"/>
          </a:p>
          <a:p>
            <a:r>
              <a:rPr lang="ko-KR" altLang="en-US" dirty="0"/>
              <a:t>파라미터</a:t>
            </a:r>
            <a:r>
              <a:rPr lang="en-US" altLang="ko-KR" dirty="0"/>
              <a:t>1</a:t>
            </a:r>
            <a:r>
              <a:rPr lang="ko-KR" altLang="en-US" dirty="0"/>
              <a:t>을 </a:t>
            </a:r>
            <a:r>
              <a:rPr lang="en-US" altLang="ko-KR" dirty="0"/>
              <a:t>fitting </a:t>
            </a:r>
            <a:r>
              <a:rPr lang="ko-KR" altLang="en-US" dirty="0"/>
              <a:t>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6714FA-B8AD-88CD-9929-489560E3A026}"/>
              </a:ext>
            </a:extLst>
          </p:cNvPr>
          <p:cNvSpPr txBox="1"/>
          <p:nvPr/>
        </p:nvSpPr>
        <p:spPr>
          <a:xfrm>
            <a:off x="1218223" y="1426336"/>
            <a:ext cx="58272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0~7 </a:t>
            </a:r>
            <a:r>
              <a:rPr lang="ko-KR" altLang="en-US" dirty="0"/>
              <a:t>데이터들을 무작위로 섞고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반은 파라미터</a:t>
            </a:r>
            <a:r>
              <a:rPr lang="en-US" altLang="ko-KR" dirty="0"/>
              <a:t> </a:t>
            </a:r>
            <a:r>
              <a:rPr lang="ko-KR" altLang="en-US" dirty="0"/>
              <a:t>세트</a:t>
            </a:r>
            <a:r>
              <a:rPr lang="en-US" altLang="ko-KR" dirty="0"/>
              <a:t>1, </a:t>
            </a:r>
            <a:r>
              <a:rPr lang="ko-KR" altLang="en-US" dirty="0"/>
              <a:t>반은 파라미터</a:t>
            </a:r>
            <a:r>
              <a:rPr lang="en-US" altLang="ko-KR" dirty="0"/>
              <a:t> </a:t>
            </a:r>
            <a:r>
              <a:rPr lang="ko-KR" altLang="en-US" dirty="0"/>
              <a:t>세트</a:t>
            </a:r>
            <a:r>
              <a:rPr lang="en-US" altLang="ko-KR" dirty="0"/>
              <a:t>2</a:t>
            </a:r>
            <a:r>
              <a:rPr lang="ko-KR" altLang="en-US" dirty="0"/>
              <a:t>에 사용한다</a:t>
            </a:r>
            <a:r>
              <a:rPr lang="en-US" altLang="ko-KR" dirty="0"/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58CA56-3AC1-27B6-D446-5B1B7D9ECB5E}"/>
              </a:ext>
            </a:extLst>
          </p:cNvPr>
          <p:cNvSpPr txBox="1"/>
          <p:nvPr/>
        </p:nvSpPr>
        <p:spPr>
          <a:xfrm>
            <a:off x="293543" y="255265"/>
            <a:ext cx="60942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모든 데이터들 무작위로 섞고</a:t>
            </a:r>
            <a:r>
              <a:rPr lang="en-US" altLang="ko-KR" dirty="0"/>
              <a:t>, </a:t>
            </a:r>
            <a:r>
              <a:rPr lang="ko-KR" altLang="en-US" dirty="0"/>
              <a:t>반으로 나눈다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5753E132-A8D1-69BB-08E3-76A3621417B2}"/>
              </a:ext>
            </a:extLst>
          </p:cNvPr>
          <p:cNvCxnSpPr/>
          <p:nvPr/>
        </p:nvCxnSpPr>
        <p:spPr>
          <a:xfrm flipH="1">
            <a:off x="1770927" y="3738623"/>
            <a:ext cx="162045" cy="9082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B3C4C871-ABD7-17D1-9EA5-F6DC6E1C77B8}"/>
              </a:ext>
            </a:extLst>
          </p:cNvPr>
          <p:cNvCxnSpPr>
            <a:cxnSpLocks/>
          </p:cNvCxnSpPr>
          <p:nvPr/>
        </p:nvCxnSpPr>
        <p:spPr>
          <a:xfrm>
            <a:off x="2999772" y="3738623"/>
            <a:ext cx="3250557" cy="9082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9EA1D87-A877-3548-4EBE-5DEFDAADD2A6}"/>
              </a:ext>
            </a:extLst>
          </p:cNvPr>
          <p:cNvSpPr/>
          <p:nvPr/>
        </p:nvSpPr>
        <p:spPr>
          <a:xfrm>
            <a:off x="1283832" y="3614263"/>
            <a:ext cx="1065829" cy="840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48EDAA7-B5E1-1DB1-043E-EF0EDFFEE7F5}"/>
              </a:ext>
            </a:extLst>
          </p:cNvPr>
          <p:cNvSpPr/>
          <p:nvPr/>
        </p:nvSpPr>
        <p:spPr>
          <a:xfrm>
            <a:off x="2466857" y="3614695"/>
            <a:ext cx="1065829" cy="840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92572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C64C6B7-35EC-F6BC-DAC1-A9A189EFC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27" y="856527"/>
            <a:ext cx="10097417" cy="4740618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67D6E0C2-96A4-2768-8EB4-C1D2723D1706}"/>
              </a:ext>
            </a:extLst>
          </p:cNvPr>
          <p:cNvSpPr/>
          <p:nvPr/>
        </p:nvSpPr>
        <p:spPr>
          <a:xfrm>
            <a:off x="7642146" y="1981215"/>
            <a:ext cx="4085864" cy="1447785"/>
          </a:xfrm>
          <a:prstGeom prst="rect">
            <a:avLst/>
          </a:prstGeom>
          <a:solidFill>
            <a:schemeClr val="bg1"/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B318A2E0-933C-4270-1471-7953FCFF55C1}"/>
                  </a:ext>
                </a:extLst>
              </p14:cNvPr>
              <p14:cNvContentPartPr/>
              <p14:nvPr/>
            </p14:nvContentPartPr>
            <p14:xfrm>
              <a:off x="3500958" y="983180"/>
              <a:ext cx="1338484" cy="45719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B318A2E0-933C-4270-1471-7953FCFF55C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10934" y="802118"/>
                <a:ext cx="1518173" cy="4082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DEDEB496-33E8-E143-916C-7417A59B1DA5}"/>
                  </a:ext>
                </a:extLst>
              </p14:cNvPr>
              <p14:cNvContentPartPr/>
              <p14:nvPr/>
            </p14:nvContentPartPr>
            <p14:xfrm>
              <a:off x="792902" y="2594674"/>
              <a:ext cx="2447184" cy="45719"/>
            </p14:xfrm>
          </p:contentPart>
        </mc:Choice>
        <mc:Fallback xmlns=""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DEDEB496-33E8-E143-916C-7417A59B1DA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8896" y="2486182"/>
                <a:ext cx="2554836" cy="263066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FD5EA30A-CE9B-BFEB-E31B-42D8CEE80276}"/>
              </a:ext>
            </a:extLst>
          </p:cNvPr>
          <p:cNvSpPr txBox="1"/>
          <p:nvPr/>
        </p:nvSpPr>
        <p:spPr>
          <a:xfrm>
            <a:off x="7642146" y="2155868"/>
            <a:ext cx="389241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고려되는 </a:t>
            </a:r>
            <a:r>
              <a:rPr lang="ko-KR" altLang="en-US" b="1" dirty="0"/>
              <a:t>모든 데이터들을</a:t>
            </a:r>
            <a:r>
              <a:rPr lang="en-US" altLang="ko-KR" b="1" dirty="0"/>
              <a:t> </a:t>
            </a:r>
            <a:r>
              <a:rPr lang="ko-KR" altLang="en-US" b="1" dirty="0"/>
              <a:t>대상으로</a:t>
            </a:r>
            <a:endParaRPr lang="en-US" altLang="ko-KR" b="1" dirty="0"/>
          </a:p>
          <a:p>
            <a:r>
              <a:rPr lang="ko-KR" altLang="en-US" dirty="0"/>
              <a:t>각 </a:t>
            </a:r>
            <a:r>
              <a:rPr lang="en-US" altLang="ko-KR" b="1" dirty="0"/>
              <a:t>SSR</a:t>
            </a:r>
            <a:r>
              <a:rPr lang="ko-KR" altLang="en-US" b="1" dirty="0"/>
              <a:t>의 합</a:t>
            </a:r>
            <a:r>
              <a:rPr lang="ko-KR" altLang="en-US" dirty="0"/>
              <a:t>을 </a:t>
            </a:r>
            <a:endParaRPr lang="en-US" altLang="ko-KR" dirty="0"/>
          </a:p>
          <a:p>
            <a:r>
              <a:rPr lang="ko-KR" altLang="en-US" dirty="0"/>
              <a:t>최종적인 </a:t>
            </a:r>
            <a:r>
              <a:rPr lang="en-US" altLang="ko-KR" dirty="0"/>
              <a:t>SSR</a:t>
            </a:r>
            <a:r>
              <a:rPr lang="ko-KR" altLang="en-US" dirty="0"/>
              <a:t>로 반환하도록</a:t>
            </a:r>
            <a:endParaRPr lang="en-US" altLang="ko-KR" dirty="0"/>
          </a:p>
          <a:p>
            <a:r>
              <a:rPr lang="ko-KR" altLang="en-US" dirty="0"/>
              <a:t>목표함수를 수정함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6B220C-9428-BDC3-44D6-147BA080C7D9}"/>
              </a:ext>
            </a:extLst>
          </p:cNvPr>
          <p:cNvSpPr txBox="1"/>
          <p:nvPr/>
        </p:nvSpPr>
        <p:spPr>
          <a:xfrm>
            <a:off x="193051" y="146869"/>
            <a:ext cx="10397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나뉜 데이터에 따라 각각 두 파라미터를 따로 </a:t>
            </a:r>
            <a:r>
              <a:rPr lang="ko-KR" altLang="en-US" dirty="0" err="1"/>
              <a:t>피팅한다</a:t>
            </a:r>
            <a:r>
              <a:rPr lang="en-US" altLang="ko-KR" dirty="0"/>
              <a:t>. (params1, params2)</a:t>
            </a:r>
          </a:p>
        </p:txBody>
      </p:sp>
    </p:spTree>
    <p:extLst>
      <p:ext uri="{BB962C8B-B14F-4D97-AF65-F5344CB8AC3E}">
        <p14:creationId xmlns:p14="http://schemas.microsoft.com/office/powerpoint/2010/main" val="29831926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944A8-72F3-73F9-5D14-0ADF21A70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F9E172B-0456-737F-8923-4486B7029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415" y="1180232"/>
            <a:ext cx="5086350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5E304FD-31AE-29B1-C597-71232B983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66" y="6009032"/>
            <a:ext cx="4587638" cy="396274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146C29A-87C4-185D-E777-89CD7F6D52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4235" y="1180232"/>
            <a:ext cx="5086350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A2D4DE9-2213-4906-5BDC-CC82EE525B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7293" y="5975710"/>
            <a:ext cx="4480948" cy="3581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76381F-E37E-20F3-EC8D-32183B88DAF5}"/>
              </a:ext>
            </a:extLst>
          </p:cNvPr>
          <p:cNvSpPr txBox="1"/>
          <p:nvPr/>
        </p:nvSpPr>
        <p:spPr>
          <a:xfrm>
            <a:off x="1390148" y="793331"/>
            <a:ext cx="1471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첫번째 시도</a:t>
            </a:r>
            <a:r>
              <a:rPr lang="en-US" altLang="ko-KR" dirty="0"/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E6A62D-D70D-5971-736F-A5A82A5C86EB}"/>
              </a:ext>
            </a:extLst>
          </p:cNvPr>
          <p:cNvSpPr txBox="1"/>
          <p:nvPr/>
        </p:nvSpPr>
        <p:spPr>
          <a:xfrm>
            <a:off x="2988419" y="802116"/>
            <a:ext cx="6215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무작위로 나뉘어진 각 데이터 그룹마다 피팅을 진행하였다</a:t>
            </a:r>
            <a:r>
              <a:rPr lang="en-US" altLang="ko-KR" dirty="0"/>
              <a:t>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D3894B-7278-969C-5C0A-4970620223B9}"/>
              </a:ext>
            </a:extLst>
          </p:cNvPr>
          <p:cNvSpPr/>
          <p:nvPr/>
        </p:nvSpPr>
        <p:spPr>
          <a:xfrm>
            <a:off x="678066" y="5316292"/>
            <a:ext cx="1898248" cy="5092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params1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4A43133-1E0D-4158-92DB-A4B20999F8B3}"/>
              </a:ext>
            </a:extLst>
          </p:cNvPr>
          <p:cNvSpPr/>
          <p:nvPr/>
        </p:nvSpPr>
        <p:spPr>
          <a:xfrm>
            <a:off x="6717293" y="5355821"/>
            <a:ext cx="1898248" cy="5092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params2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688C2F-B320-42E9-B5EB-F966713E9489}"/>
              </a:ext>
            </a:extLst>
          </p:cNvPr>
          <p:cNvSpPr txBox="1"/>
          <p:nvPr/>
        </p:nvSpPr>
        <p:spPr>
          <a:xfrm>
            <a:off x="193051" y="146869"/>
            <a:ext cx="10397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나뉜 데이터에 따라 각각 두 파라미터를 따로 </a:t>
            </a:r>
            <a:r>
              <a:rPr lang="ko-KR" altLang="en-US" dirty="0" err="1"/>
              <a:t>피팅한다</a:t>
            </a:r>
            <a:r>
              <a:rPr lang="en-US" altLang="ko-KR" dirty="0"/>
              <a:t>. (params1, params2)</a:t>
            </a:r>
          </a:p>
        </p:txBody>
      </p:sp>
    </p:spTree>
    <p:extLst>
      <p:ext uri="{BB962C8B-B14F-4D97-AF65-F5344CB8AC3E}">
        <p14:creationId xmlns:p14="http://schemas.microsoft.com/office/powerpoint/2010/main" val="610961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3370A263-FB94-B6C8-4FAA-7EFCFFFE1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4399" y="1310833"/>
            <a:ext cx="6767474" cy="5277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2548FD-BC2B-9485-A7D5-FFD010D47F4B}"/>
              </a:ext>
            </a:extLst>
          </p:cNvPr>
          <p:cNvSpPr txBox="1"/>
          <p:nvPr/>
        </p:nvSpPr>
        <p:spPr>
          <a:xfrm>
            <a:off x="361710" y="270003"/>
            <a:ext cx="9291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3. </a:t>
            </a:r>
            <a:r>
              <a:rPr lang="ko-KR" altLang="en-US" dirty="0" err="1"/>
              <a:t>피팅된</a:t>
            </a:r>
            <a:r>
              <a:rPr lang="ko-KR" altLang="en-US" dirty="0"/>
              <a:t> 두 파라미터</a:t>
            </a:r>
            <a:r>
              <a:rPr lang="en-US" altLang="ko-KR" dirty="0"/>
              <a:t>(params1, params2)</a:t>
            </a:r>
            <a:r>
              <a:rPr lang="ko-KR" altLang="en-US" dirty="0"/>
              <a:t>와 데이터들의 오차를 구한다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14421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9CC10-CB49-808C-3FDC-AD759E576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7339FF2-B65B-DDC0-5E66-3C339C818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27" y="1857604"/>
            <a:ext cx="6551076" cy="34512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0983F4-0115-2384-8187-7E3F87A67ACF}"/>
              </a:ext>
            </a:extLst>
          </p:cNvPr>
          <p:cNvSpPr txBox="1"/>
          <p:nvPr/>
        </p:nvSpPr>
        <p:spPr>
          <a:xfrm>
            <a:off x="7122785" y="2416754"/>
            <a:ext cx="506100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파라미터</a:t>
            </a:r>
            <a:r>
              <a:rPr lang="en-US" altLang="ko-KR" dirty="0"/>
              <a:t>1</a:t>
            </a:r>
            <a:r>
              <a:rPr lang="ko-KR" altLang="en-US" dirty="0"/>
              <a:t>과 데이터의 오차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파라미터</a:t>
            </a:r>
            <a:r>
              <a:rPr lang="en-US" altLang="ko-KR" dirty="0"/>
              <a:t>2</a:t>
            </a:r>
            <a:r>
              <a:rPr lang="ko-KR" altLang="en-US" dirty="0"/>
              <a:t>와 데이터의 오차를</a:t>
            </a:r>
            <a:endParaRPr lang="en-US" altLang="ko-KR" dirty="0"/>
          </a:p>
          <a:p>
            <a:r>
              <a:rPr lang="ko-KR" altLang="en-US" dirty="0"/>
              <a:t>이 함수를 통해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각각 계산한 후</a:t>
            </a:r>
            <a:r>
              <a:rPr lang="en-US" altLang="ko-KR" dirty="0"/>
              <a:t>,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데이터와의 오차가 더 작은 파라미터의 색으로 </a:t>
            </a:r>
            <a:endParaRPr lang="en-US" altLang="ko-KR" dirty="0"/>
          </a:p>
          <a:p>
            <a:r>
              <a:rPr lang="ko-KR" altLang="en-US" dirty="0"/>
              <a:t>데이터를 바꾼다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C4B591-D0C5-139F-8732-94D9301E1403}"/>
              </a:ext>
            </a:extLst>
          </p:cNvPr>
          <p:cNvSpPr txBox="1"/>
          <p:nvPr/>
        </p:nvSpPr>
        <p:spPr>
          <a:xfrm>
            <a:off x="361710" y="270003"/>
            <a:ext cx="9291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3. </a:t>
            </a:r>
            <a:r>
              <a:rPr lang="ko-KR" altLang="en-US" dirty="0" err="1"/>
              <a:t>피팅된</a:t>
            </a:r>
            <a:r>
              <a:rPr lang="ko-KR" altLang="en-US" dirty="0"/>
              <a:t> 두 파라미터</a:t>
            </a:r>
            <a:r>
              <a:rPr lang="en-US" altLang="ko-KR" dirty="0"/>
              <a:t>(params1, params2)</a:t>
            </a:r>
            <a:r>
              <a:rPr lang="ko-KR" altLang="en-US" dirty="0"/>
              <a:t>와 데이터들의 오차를 구한다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960505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852D7-6AF3-406C-434B-7FC2AC1E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EF8F9A0A-84FE-B577-F830-2CFE16A3DD32}"/>
              </a:ext>
            </a:extLst>
          </p:cNvPr>
          <p:cNvSpPr/>
          <p:nvPr/>
        </p:nvSpPr>
        <p:spPr>
          <a:xfrm>
            <a:off x="7552694" y="1109373"/>
            <a:ext cx="4639305" cy="923330"/>
          </a:xfrm>
          <a:prstGeom prst="rect">
            <a:avLst/>
          </a:prstGeom>
          <a:solidFill>
            <a:schemeClr val="bg1"/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ECE1F97-9588-2D0D-F7F9-456A6FCC8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803" y="1328757"/>
            <a:ext cx="2682472" cy="3977985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351E4A3D-9942-A574-94FC-0BF0CD8332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7623" y="2473196"/>
            <a:ext cx="5590144" cy="4359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67613CF9-75D2-2934-97D3-CB6095EFEB9C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2970328" y="1905149"/>
            <a:ext cx="258588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996B69AE-8216-560F-D207-07CE849F80FB}"/>
              </a:ext>
            </a:extLst>
          </p:cNvPr>
          <p:cNvCxnSpPr>
            <a:cxnSpLocks/>
          </p:cNvCxnSpPr>
          <p:nvPr/>
        </p:nvCxnSpPr>
        <p:spPr>
          <a:xfrm flipV="1">
            <a:off x="3011480" y="1325800"/>
            <a:ext cx="312383" cy="171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03220EA-D18C-9AA4-CF46-CED4BFC45C73}"/>
              </a:ext>
            </a:extLst>
          </p:cNvPr>
          <p:cNvSpPr txBox="1"/>
          <p:nvPr/>
        </p:nvSpPr>
        <p:spPr>
          <a:xfrm>
            <a:off x="2970328" y="981819"/>
            <a:ext cx="4203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첫번째 </a:t>
            </a:r>
            <a:r>
              <a:rPr lang="en-US" altLang="ko-KR" dirty="0"/>
              <a:t>SSR: data1</a:t>
            </a:r>
            <a:r>
              <a:rPr lang="ko-KR" altLang="en-US" dirty="0"/>
              <a:t>과 </a:t>
            </a:r>
            <a:r>
              <a:rPr lang="en-US" altLang="ko-KR" dirty="0"/>
              <a:t>params1</a:t>
            </a:r>
            <a:r>
              <a:rPr lang="ko-KR" altLang="en-US" dirty="0"/>
              <a:t>과의 </a:t>
            </a:r>
            <a:r>
              <a:rPr lang="en-US" altLang="ko-KR" dirty="0"/>
              <a:t>SSR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1D2DB4-C916-4F47-CCEB-84FE60E8D53B}"/>
              </a:ext>
            </a:extLst>
          </p:cNvPr>
          <p:cNvSpPr txBox="1"/>
          <p:nvPr/>
        </p:nvSpPr>
        <p:spPr>
          <a:xfrm>
            <a:off x="3228916" y="1905149"/>
            <a:ext cx="4203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두번째 </a:t>
            </a:r>
            <a:r>
              <a:rPr lang="en-US" altLang="ko-KR" dirty="0"/>
              <a:t>SSR: data1</a:t>
            </a:r>
            <a:r>
              <a:rPr lang="ko-KR" altLang="en-US" dirty="0"/>
              <a:t>과 </a:t>
            </a:r>
            <a:r>
              <a:rPr lang="en-US" altLang="ko-KR" dirty="0"/>
              <a:t>params2</a:t>
            </a:r>
            <a:r>
              <a:rPr lang="ko-KR" altLang="en-US" dirty="0"/>
              <a:t>와의 </a:t>
            </a:r>
            <a:r>
              <a:rPr lang="en-US" altLang="ko-KR" dirty="0"/>
              <a:t>SSR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CC19DF-F271-2837-473B-D26BD7085006}"/>
              </a:ext>
            </a:extLst>
          </p:cNvPr>
          <p:cNvSpPr txBox="1"/>
          <p:nvPr/>
        </p:nvSpPr>
        <p:spPr>
          <a:xfrm>
            <a:off x="361710" y="270003"/>
            <a:ext cx="131806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4. </a:t>
            </a:r>
            <a:r>
              <a:rPr lang="ko-KR" altLang="en-US" dirty="0"/>
              <a:t>데이터마다 오차가 더 작은 파라미터의 데이터로 선택을 하여 다시 데이터들을 두 그룹으로 나눈다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588AAC-41C0-0EC6-ABDF-2AA2D2B93A8E}"/>
              </a:ext>
            </a:extLst>
          </p:cNvPr>
          <p:cNvSpPr txBox="1"/>
          <p:nvPr/>
        </p:nvSpPr>
        <p:spPr>
          <a:xfrm>
            <a:off x="7552695" y="1258818"/>
            <a:ext cx="48878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data1</a:t>
            </a:r>
            <a:r>
              <a:rPr lang="ko-KR" altLang="en-US" dirty="0"/>
              <a:t>은 </a:t>
            </a:r>
            <a:r>
              <a:rPr lang="en-US" altLang="ko-KR" dirty="0"/>
              <a:t>params2</a:t>
            </a:r>
            <a:r>
              <a:rPr lang="ko-KR" altLang="en-US" dirty="0"/>
              <a:t>와의 오차가 </a:t>
            </a:r>
            <a:r>
              <a:rPr lang="ko-KR" altLang="en-US" dirty="0" err="1"/>
              <a:t>더작기</a:t>
            </a:r>
            <a:r>
              <a:rPr lang="ko-KR" altLang="en-US" dirty="0"/>
              <a:t> 때문에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params</a:t>
            </a:r>
            <a:r>
              <a:rPr lang="ko-KR" altLang="en-US" dirty="0"/>
              <a:t>와 같은 그룹으로 분류됨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2CBDE9-DDD4-A747-D7E6-AAEF4D2973E9}"/>
              </a:ext>
            </a:extLst>
          </p:cNvPr>
          <p:cNvSpPr txBox="1"/>
          <p:nvPr/>
        </p:nvSpPr>
        <p:spPr>
          <a:xfrm>
            <a:off x="265173" y="6018558"/>
            <a:ext cx="41264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실제와 </a:t>
            </a:r>
            <a:r>
              <a:rPr lang="ko-KR" altLang="en-US" dirty="0" err="1"/>
              <a:t>비교했을때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아직 분류가 되지 않은 데이터도 있음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5849C818-83E6-D38D-E076-00E305D225AF}"/>
              </a:ext>
            </a:extLst>
          </p:cNvPr>
          <p:cNvCxnSpPr>
            <a:cxnSpLocks/>
          </p:cNvCxnSpPr>
          <p:nvPr/>
        </p:nvCxnSpPr>
        <p:spPr>
          <a:xfrm flipV="1">
            <a:off x="2534856" y="4525701"/>
            <a:ext cx="2795725" cy="14928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90867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A91D7-9FBC-2711-45BC-E38A93B2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FE2ACC03-26E7-D8E1-D6A6-B9C6A7F09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7623" y="2473196"/>
            <a:ext cx="5590144" cy="4359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6B33292-8F36-B686-BA51-6E2A7F3FA51C}"/>
              </a:ext>
            </a:extLst>
          </p:cNvPr>
          <p:cNvSpPr txBox="1"/>
          <p:nvPr/>
        </p:nvSpPr>
        <p:spPr>
          <a:xfrm>
            <a:off x="361710" y="270003"/>
            <a:ext cx="131806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4. </a:t>
            </a:r>
            <a:r>
              <a:rPr lang="ko-KR" altLang="en-US" dirty="0"/>
              <a:t>데이터마다 오차가 더 작은 파라미터의 데이터로 선택을 하여 다시 데이터들을 두 그룹으로 나눈다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27F150-3F2F-4095-3E3E-B2340919CAF4}"/>
              </a:ext>
            </a:extLst>
          </p:cNvPr>
          <p:cNvSpPr txBox="1"/>
          <p:nvPr/>
        </p:nvSpPr>
        <p:spPr>
          <a:xfrm>
            <a:off x="265173" y="6018558"/>
            <a:ext cx="41264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실제와 </a:t>
            </a:r>
            <a:r>
              <a:rPr lang="ko-KR" altLang="en-US" dirty="0" err="1"/>
              <a:t>비교했을때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아직 분류가 되지 않은 데이터가 있음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0B19BBA6-5E33-79A9-00CE-D7515BBFE0E3}"/>
              </a:ext>
            </a:extLst>
          </p:cNvPr>
          <p:cNvCxnSpPr>
            <a:cxnSpLocks/>
          </p:cNvCxnSpPr>
          <p:nvPr/>
        </p:nvCxnSpPr>
        <p:spPr>
          <a:xfrm flipV="1">
            <a:off x="2534856" y="4525701"/>
            <a:ext cx="2795725" cy="14928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1A3B511-A044-77FD-04BC-058AE8C39CAB}"/>
              </a:ext>
            </a:extLst>
          </p:cNvPr>
          <p:cNvSpPr txBox="1"/>
          <p:nvPr/>
        </p:nvSpPr>
        <p:spPr>
          <a:xfrm>
            <a:off x="361710" y="1659457"/>
            <a:ext cx="72218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첫</a:t>
            </a:r>
            <a:r>
              <a:rPr lang="en-US" altLang="ko-KR" b="1" dirty="0"/>
              <a:t>step</a:t>
            </a:r>
            <a:r>
              <a:rPr lang="ko-KR" altLang="en-US" b="1" dirty="0"/>
              <a:t>에서는 데이터들의 분류도 잘되지 않았고</a:t>
            </a:r>
            <a:r>
              <a:rPr lang="en-US" altLang="ko-KR" b="1" dirty="0"/>
              <a:t>,</a:t>
            </a:r>
          </a:p>
          <a:p>
            <a:r>
              <a:rPr lang="ko-KR" altLang="en-US" b="1" dirty="0"/>
              <a:t>각 데이터들에 맞는 </a:t>
            </a:r>
            <a:r>
              <a:rPr lang="en-US" altLang="ko-KR" b="1" dirty="0"/>
              <a:t>(</a:t>
            </a:r>
            <a:r>
              <a:rPr lang="ko-KR" altLang="en-US" b="1" dirty="0"/>
              <a:t>같은 색의</a:t>
            </a:r>
            <a:r>
              <a:rPr lang="en-US" altLang="ko-KR" b="1" dirty="0"/>
              <a:t>)</a:t>
            </a:r>
            <a:r>
              <a:rPr lang="ko-KR" altLang="en-US" b="1" dirty="0"/>
              <a:t> 파라미터들도 잘 </a:t>
            </a:r>
            <a:r>
              <a:rPr lang="en-US" altLang="ko-KR" b="1" dirty="0"/>
              <a:t>fitting</a:t>
            </a:r>
            <a:r>
              <a:rPr lang="ko-KR" altLang="en-US" b="1" dirty="0"/>
              <a:t>되지 않았음</a:t>
            </a:r>
          </a:p>
        </p:txBody>
      </p:sp>
    </p:spTree>
    <p:extLst>
      <p:ext uri="{BB962C8B-B14F-4D97-AF65-F5344CB8AC3E}">
        <p14:creationId xmlns:p14="http://schemas.microsoft.com/office/powerpoint/2010/main" val="28325926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51B3A-CBA9-283A-713F-A1EE34450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6F42B0A7-4A0C-FDC7-F8A5-690ACC557F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649" y="1462087"/>
            <a:ext cx="5086350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1D009AE9-1400-2FAF-4A46-5EC2CDE9C3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2262" y="1462086"/>
            <a:ext cx="5086350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B75CDD-1736-21B3-928D-AD59A59AA13F}"/>
              </a:ext>
            </a:extLst>
          </p:cNvPr>
          <p:cNvSpPr txBox="1"/>
          <p:nvPr/>
        </p:nvSpPr>
        <p:spPr>
          <a:xfrm>
            <a:off x="361710" y="270003"/>
            <a:ext cx="131806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2-2. </a:t>
            </a:r>
            <a:r>
              <a:rPr lang="ko-KR" altLang="en-US" dirty="0"/>
              <a:t>나뉜 데이터에 따라 각각 두 파라미터를 따로 </a:t>
            </a:r>
            <a:r>
              <a:rPr lang="ko-KR" altLang="en-US" dirty="0" err="1"/>
              <a:t>피팅한다</a:t>
            </a:r>
            <a:r>
              <a:rPr lang="en-US" altLang="ko-KR" dirty="0"/>
              <a:t>. (params1, params2)</a:t>
            </a:r>
          </a:p>
        </p:txBody>
      </p:sp>
    </p:spTree>
    <p:extLst>
      <p:ext uri="{BB962C8B-B14F-4D97-AF65-F5344CB8AC3E}">
        <p14:creationId xmlns:p14="http://schemas.microsoft.com/office/powerpoint/2010/main" val="39916716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7972D-8C29-F7A2-2EAB-3AE0840F5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83E91C68-A2F9-370C-4B67-C72A2F3C7C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149" y="1371599"/>
            <a:ext cx="6276131" cy="4894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41B53A7-BB73-108B-AAAD-2464864E5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0671" y="1386067"/>
            <a:ext cx="3212180" cy="48275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2B409A-0099-E7E8-E95C-C3FADE74074E}"/>
              </a:ext>
            </a:extLst>
          </p:cNvPr>
          <p:cNvSpPr txBox="1"/>
          <p:nvPr/>
        </p:nvSpPr>
        <p:spPr>
          <a:xfrm>
            <a:off x="361710" y="270003"/>
            <a:ext cx="9291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3-2. </a:t>
            </a:r>
            <a:r>
              <a:rPr lang="ko-KR" altLang="en-US" dirty="0" err="1"/>
              <a:t>피팅된</a:t>
            </a:r>
            <a:r>
              <a:rPr lang="ko-KR" altLang="en-US" dirty="0"/>
              <a:t> 두 파라미터</a:t>
            </a:r>
            <a:r>
              <a:rPr lang="en-US" altLang="ko-KR" dirty="0"/>
              <a:t>(params1, params2)</a:t>
            </a:r>
            <a:r>
              <a:rPr lang="ko-KR" altLang="en-US" dirty="0"/>
              <a:t>와 데이터들의 오차를 구한다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684537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7E00D-0DB9-632F-A2F0-1DA4E132C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906EC8A-165A-7BE9-E123-045B431CD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792" y="1370137"/>
            <a:ext cx="2636748" cy="3962743"/>
          </a:xfrm>
          <a:prstGeom prst="rect">
            <a:avLst/>
          </a:prstGeom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A749C572-090C-72ED-AFD0-99620282D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5419" y="1279002"/>
            <a:ext cx="6083789" cy="4744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6E7638-1322-9484-2453-D3432EBDB7E6}"/>
              </a:ext>
            </a:extLst>
          </p:cNvPr>
          <p:cNvSpPr txBox="1"/>
          <p:nvPr/>
        </p:nvSpPr>
        <p:spPr>
          <a:xfrm>
            <a:off x="361710" y="270003"/>
            <a:ext cx="131806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4-2. </a:t>
            </a:r>
            <a:r>
              <a:rPr lang="ko-KR" altLang="en-US" dirty="0"/>
              <a:t>데이터마다 오차가 더 작은 파라미터의 데이터로 선택을 하여 다시 데이터들을 두 그룹으로 나눈다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270029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79923-1B48-7B24-412B-AF464F1B7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D89B60BE-2EC9-13DD-C132-4E51C5724C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903" y="1043634"/>
            <a:ext cx="5086350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A4CC7D4D-3034-0B9C-58F4-0F707F6C68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1489" y="1043633"/>
            <a:ext cx="5086350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7F7177B-4B7F-1EE4-0EAC-3E919DDDE9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526" y="5117203"/>
            <a:ext cx="4458086" cy="32768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05DDF1C-E5B5-6F92-ABE3-FFA8AAB901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4229" y="5117203"/>
            <a:ext cx="3627434" cy="3200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A39240-3572-4860-0945-BE5F0B76BF5C}"/>
              </a:ext>
            </a:extLst>
          </p:cNvPr>
          <p:cNvSpPr txBox="1"/>
          <p:nvPr/>
        </p:nvSpPr>
        <p:spPr>
          <a:xfrm>
            <a:off x="361710" y="270003"/>
            <a:ext cx="131806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2-3. </a:t>
            </a:r>
            <a:r>
              <a:rPr lang="ko-KR" altLang="en-US" dirty="0"/>
              <a:t>나뉜 데이터에 따라 각각 두 파라미터를 따로 </a:t>
            </a:r>
            <a:r>
              <a:rPr lang="ko-KR" altLang="en-US" dirty="0" err="1"/>
              <a:t>피팅한다</a:t>
            </a:r>
            <a:r>
              <a:rPr lang="en-US" altLang="ko-KR" dirty="0"/>
              <a:t>. (params1, params2)</a:t>
            </a:r>
          </a:p>
        </p:txBody>
      </p:sp>
    </p:spTree>
    <p:extLst>
      <p:ext uri="{BB962C8B-B14F-4D97-AF65-F5344CB8AC3E}">
        <p14:creationId xmlns:p14="http://schemas.microsoft.com/office/powerpoint/2010/main" val="18158482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3A2EEE37-A481-070E-DCA5-437F996156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8821" y="1316767"/>
            <a:ext cx="6189041" cy="4826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44159E-E32D-B453-13D0-00053DA83D36}"/>
              </a:ext>
            </a:extLst>
          </p:cNvPr>
          <p:cNvSpPr txBox="1"/>
          <p:nvPr/>
        </p:nvSpPr>
        <p:spPr>
          <a:xfrm>
            <a:off x="361710" y="639335"/>
            <a:ext cx="131806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4-3. </a:t>
            </a:r>
            <a:r>
              <a:rPr lang="ko-KR" altLang="en-US" dirty="0"/>
              <a:t>데이터마다 오차가 더 작은 파라미터의 데이터로 선택을 하여 다시 데이터들을 두 그룹으로 나눈다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5577C1-1DBE-7CCD-DCEB-9710FB08E81F}"/>
              </a:ext>
            </a:extLst>
          </p:cNvPr>
          <p:cNvSpPr txBox="1"/>
          <p:nvPr/>
        </p:nvSpPr>
        <p:spPr>
          <a:xfrm>
            <a:off x="361710" y="270003"/>
            <a:ext cx="9291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3-3. </a:t>
            </a:r>
            <a:r>
              <a:rPr lang="ko-KR" altLang="en-US" dirty="0" err="1"/>
              <a:t>피팅된</a:t>
            </a:r>
            <a:r>
              <a:rPr lang="ko-KR" altLang="en-US" dirty="0"/>
              <a:t> 두 파라미터</a:t>
            </a:r>
            <a:r>
              <a:rPr lang="en-US" altLang="ko-KR" dirty="0"/>
              <a:t>(params1, params2)</a:t>
            </a:r>
            <a:r>
              <a:rPr lang="ko-KR" altLang="en-US" dirty="0"/>
              <a:t>와 데이터들의 오차를 구한다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240427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55ADD-5DB7-AC38-7F60-5A6640869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1629AFAC-F633-F861-BCA8-6460B22DDF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493" y="2618242"/>
            <a:ext cx="5086350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F2522AF1-5F33-4C18-0331-54E4CBA73997}"/>
              </a:ext>
            </a:extLst>
          </p:cNvPr>
          <p:cNvSpPr/>
          <p:nvPr/>
        </p:nvSpPr>
        <p:spPr>
          <a:xfrm>
            <a:off x="5498146" y="4134209"/>
            <a:ext cx="1195707" cy="6705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C29B0B-5A86-20A5-7F36-5B7481546B8B}"/>
              </a:ext>
            </a:extLst>
          </p:cNvPr>
          <p:cNvSpPr txBox="1"/>
          <p:nvPr/>
        </p:nvSpPr>
        <p:spPr>
          <a:xfrm>
            <a:off x="1479690" y="1099125"/>
            <a:ext cx="91759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/>
              <a:t>바이러스 동역학 모델을 따르는 </a:t>
            </a:r>
            <a:r>
              <a:rPr lang="en-US" altLang="ko-KR" sz="2800" dirty="0"/>
              <a:t>COV2, SARS </a:t>
            </a:r>
            <a:r>
              <a:rPr lang="ko-KR" altLang="en-US" sz="2800" dirty="0"/>
              <a:t>데이터를</a:t>
            </a:r>
            <a:endParaRPr lang="en-US" altLang="ko-KR" sz="2800" dirty="0"/>
          </a:p>
          <a:p>
            <a:r>
              <a:rPr lang="ko-KR" altLang="en-US" sz="2800" dirty="0"/>
              <a:t>분류를 함과 동시에</a:t>
            </a:r>
            <a:r>
              <a:rPr lang="en-US" altLang="ko-KR" sz="2800" dirty="0"/>
              <a:t>, </a:t>
            </a:r>
            <a:r>
              <a:rPr lang="ko-KR" altLang="en-US" sz="2800" dirty="0"/>
              <a:t>각 파라미터를 따로 구할 수 있었다</a:t>
            </a:r>
            <a:r>
              <a:rPr lang="en-US" altLang="ko-KR" sz="2800" dirty="0"/>
              <a:t>.</a:t>
            </a:r>
            <a:endParaRPr lang="ko-KR" altLang="en-US" sz="2800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FCBC3960-D517-1E8D-160A-0144E88418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4019" y="2618242"/>
            <a:ext cx="4940889" cy="3852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4C5966-D0BC-810A-0E21-C1BAFC0FAD98}"/>
              </a:ext>
            </a:extLst>
          </p:cNvPr>
          <p:cNvSpPr txBox="1"/>
          <p:nvPr/>
        </p:nvSpPr>
        <p:spPr>
          <a:xfrm>
            <a:off x="585292" y="301939"/>
            <a:ext cx="119385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6.</a:t>
            </a:r>
            <a:r>
              <a:rPr lang="ko-KR" altLang="en-US" dirty="0"/>
              <a:t>각 데이터들은 </a:t>
            </a:r>
            <a:r>
              <a:rPr lang="en-US" altLang="ko-KR" dirty="0"/>
              <a:t>1</a:t>
            </a:r>
            <a:r>
              <a:rPr lang="ko-KR" altLang="en-US" dirty="0"/>
              <a:t>과</a:t>
            </a:r>
            <a:r>
              <a:rPr lang="en-US" altLang="ko-KR" dirty="0"/>
              <a:t> 2</a:t>
            </a:r>
            <a:r>
              <a:rPr lang="ko-KR" altLang="en-US" dirty="0"/>
              <a:t>로 구분한 후 실제 </a:t>
            </a:r>
            <a:r>
              <a:rPr lang="en-US" altLang="ko-KR" dirty="0"/>
              <a:t>label</a:t>
            </a:r>
            <a:r>
              <a:rPr lang="ko-KR" altLang="en-US" dirty="0"/>
              <a:t>대로 구분이 되었는지 확인한다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860062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07983-40FD-EF0F-FCB9-FB3B8A948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AEDEE27-3BD2-B9FB-CA3D-DB66B8034308}"/>
              </a:ext>
            </a:extLst>
          </p:cNvPr>
          <p:cNvSpPr txBox="1"/>
          <p:nvPr/>
        </p:nvSpPr>
        <p:spPr>
          <a:xfrm>
            <a:off x="1479690" y="1099125"/>
            <a:ext cx="91759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/>
              <a:t>바이러스 동역학 모델을 따르는 </a:t>
            </a:r>
            <a:r>
              <a:rPr lang="en-US" altLang="ko-KR" sz="2800" dirty="0"/>
              <a:t>COV2, SARS </a:t>
            </a:r>
            <a:r>
              <a:rPr lang="ko-KR" altLang="en-US" sz="2800" dirty="0"/>
              <a:t>데이터를</a:t>
            </a:r>
            <a:endParaRPr lang="en-US" altLang="ko-KR" sz="2800" dirty="0"/>
          </a:p>
          <a:p>
            <a:r>
              <a:rPr lang="ko-KR" altLang="en-US" sz="2800" dirty="0"/>
              <a:t>분류를 함과 동시에</a:t>
            </a:r>
            <a:r>
              <a:rPr lang="en-US" altLang="ko-KR" sz="2800" dirty="0"/>
              <a:t>, </a:t>
            </a:r>
            <a:r>
              <a:rPr lang="ko-KR" altLang="en-US" sz="2800" dirty="0"/>
              <a:t>각 파라미터를 따로 구할 수 있었다</a:t>
            </a:r>
            <a:r>
              <a:rPr lang="en-US" altLang="ko-KR" sz="2800" dirty="0"/>
              <a:t>.</a:t>
            </a:r>
            <a:endParaRPr lang="ko-KR" alt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437BD3-CBD3-1DCB-3D8A-596253F72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777" y="2154804"/>
            <a:ext cx="5086350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EAD3B1-53C9-751F-88D8-BA2520E82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9363" y="2154803"/>
            <a:ext cx="5086350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EC5FD04-0F12-8EA7-3613-9831D6CEC3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400" y="6228373"/>
            <a:ext cx="4458086" cy="32768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B99060F-A36B-703A-F79A-AA11EBD212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2103" y="6228373"/>
            <a:ext cx="3627434" cy="3200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7F501D7-A059-1EB6-65A0-A1079BEF535D}"/>
              </a:ext>
            </a:extLst>
          </p:cNvPr>
          <p:cNvSpPr txBox="1"/>
          <p:nvPr/>
        </p:nvSpPr>
        <p:spPr>
          <a:xfrm>
            <a:off x="585292" y="301939"/>
            <a:ext cx="119385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6.</a:t>
            </a:r>
            <a:r>
              <a:rPr lang="ko-KR" altLang="en-US" dirty="0"/>
              <a:t>각 데이터들은 </a:t>
            </a:r>
            <a:r>
              <a:rPr lang="en-US" altLang="ko-KR" dirty="0"/>
              <a:t>1</a:t>
            </a:r>
            <a:r>
              <a:rPr lang="ko-KR" altLang="en-US" dirty="0"/>
              <a:t>과</a:t>
            </a:r>
            <a:r>
              <a:rPr lang="en-US" altLang="ko-KR" dirty="0"/>
              <a:t> 2</a:t>
            </a:r>
            <a:r>
              <a:rPr lang="ko-KR" altLang="en-US" dirty="0"/>
              <a:t>로 구분한 후 실제 </a:t>
            </a:r>
            <a:r>
              <a:rPr lang="en-US" altLang="ko-KR" dirty="0"/>
              <a:t>label</a:t>
            </a:r>
            <a:r>
              <a:rPr lang="ko-KR" altLang="en-US" dirty="0"/>
              <a:t>대로 구분이 되었는지 확인한다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555773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D423B-FB4C-8A2B-1C13-AA6F21CE0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B38C4A-7F9D-F582-B2C1-88C97EDC5C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0040" y="1068126"/>
            <a:ext cx="3438841" cy="2659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E9EAB1-7AFD-926A-93D7-A1B2430705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8689" y="1068126"/>
            <a:ext cx="3438841" cy="2659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6E27AFD-A479-71A8-9ACC-9DA3015138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250" y="3960765"/>
            <a:ext cx="4458086" cy="32768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52ACE55-6E6B-07B4-4851-354BD84295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4392" y="3960765"/>
            <a:ext cx="3627434" cy="3200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FFEB69D-F0ED-14CF-F833-87BA8DB6645E}"/>
              </a:ext>
            </a:extLst>
          </p:cNvPr>
          <p:cNvSpPr txBox="1"/>
          <p:nvPr/>
        </p:nvSpPr>
        <p:spPr>
          <a:xfrm>
            <a:off x="585292" y="301939"/>
            <a:ext cx="119385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6.</a:t>
            </a:r>
            <a:r>
              <a:rPr lang="ko-KR" altLang="en-US" dirty="0"/>
              <a:t>각 데이터들은 </a:t>
            </a:r>
            <a:r>
              <a:rPr lang="en-US" altLang="ko-KR" dirty="0"/>
              <a:t>1</a:t>
            </a:r>
            <a:r>
              <a:rPr lang="ko-KR" altLang="en-US" dirty="0"/>
              <a:t>과</a:t>
            </a:r>
            <a:r>
              <a:rPr lang="en-US" altLang="ko-KR" dirty="0"/>
              <a:t> 2</a:t>
            </a:r>
            <a:r>
              <a:rPr lang="ko-KR" altLang="en-US" dirty="0"/>
              <a:t>로 구분한 후 실제 </a:t>
            </a:r>
            <a:r>
              <a:rPr lang="en-US" altLang="ko-KR" dirty="0"/>
              <a:t>label</a:t>
            </a:r>
            <a:r>
              <a:rPr lang="ko-KR" altLang="en-US" dirty="0"/>
              <a:t>대로 구분이 되었는지 확인한다</a:t>
            </a:r>
            <a:endParaRPr lang="en-US" altLang="ko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08C4A81-CE0B-DCFD-DC61-608F4810B359}"/>
                  </a:ext>
                </a:extLst>
              </p:cNvPr>
              <p:cNvSpPr txBox="1"/>
              <p:nvPr/>
            </p:nvSpPr>
            <p:spPr>
              <a:xfrm>
                <a:off x="1116687" y="4498033"/>
                <a:ext cx="3752950" cy="18814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altLang="ko-KR" dirty="0"/>
                  <a:t>(</a:t>
                </a:r>
                <a:r>
                  <a:rPr lang="ko-KR" altLang="en-US" dirty="0"/>
                  <a:t>감염률</a:t>
                </a:r>
                <a:r>
                  <a:rPr lang="en-US" altLang="ko-KR" dirty="0"/>
                  <a:t>) = 4.7247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endParaRPr lang="en-US" altLang="ko-KR" dirty="0"/>
              </a:p>
              <a:p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𝜸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(=</m:t>
                    </m:r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𝞠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𝜷</m:t>
                        </m:r>
                      </m:num>
                      <m:den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𝜹</m:t>
                        </m:r>
                      </m:den>
                    </m:f>
                  </m:oMath>
                </a14:m>
                <a:r>
                  <a:rPr lang="en-US" altLang="ko-KR" dirty="0"/>
                  <a:t>) = 1.5102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a:rPr lang="en-US" altLang="ko-KR" smtClean="0">
                        <a:latin typeface="Cambria Math" panose="02040503050406030204" pitchFamily="18" charset="0"/>
                      </a:rPr>
                      <m:t>𝞠</m:t>
                    </m:r>
                  </m:oMath>
                </a14:m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(</a:t>
                </a:r>
                <a:r>
                  <a:rPr kumimoji="0" lang="ko-KR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생산되는 바이러스</a:t>
                </a:r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) = 2674.1986</a:t>
                </a:r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𝜹</m:t>
                    </m:r>
                  </m:oMath>
                </a14:m>
                <a:r>
                  <a:rPr lang="en-US" altLang="ko-KR" dirty="0"/>
                  <a:t>(</a:t>
                </a:r>
                <a:r>
                  <a:rPr lang="ko-KR" altLang="en-US" dirty="0"/>
                  <a:t>감염된 세포 </a:t>
                </a:r>
                <a:r>
                  <a:rPr lang="ko-KR" altLang="en-US" dirty="0" err="1"/>
                  <a:t>사멸율</a:t>
                </a:r>
                <a:r>
                  <a:rPr lang="en-US" altLang="ko-KR" dirty="0"/>
                  <a:t>) = 8.3663 </a:t>
                </a:r>
              </a:p>
              <a:p>
                <a:endParaRPr lang="en-US" altLang="ko-KR" dirty="0"/>
              </a:p>
              <a:p>
                <a:r>
                  <a:rPr lang="en-US" altLang="ko-KR" dirty="0"/>
                  <a:t>V0 = 2.1365, T0 = 56.7240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08C4A81-CE0B-DCFD-DC61-608F4810B3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687" y="4498033"/>
                <a:ext cx="3752950" cy="1881477"/>
              </a:xfrm>
              <a:prstGeom prst="rect">
                <a:avLst/>
              </a:prstGeom>
              <a:blipFill>
                <a:blip r:embed="rId6"/>
                <a:stretch>
                  <a:fillRect l="-1299" t="-1942" r="-649" b="-38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38A9E5C-FFF1-FF73-2917-AE3514EDDF05}"/>
                  </a:ext>
                </a:extLst>
              </p:cNvPr>
              <p:cNvSpPr txBox="1"/>
              <p:nvPr/>
            </p:nvSpPr>
            <p:spPr>
              <a:xfrm>
                <a:off x="7078689" y="4513845"/>
                <a:ext cx="4103944" cy="18814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altLang="ko-KR" dirty="0"/>
                  <a:t>(</a:t>
                </a:r>
                <a:r>
                  <a:rPr lang="ko-KR" altLang="en-US" dirty="0"/>
                  <a:t>감염률</a:t>
                </a:r>
                <a:r>
                  <a:rPr lang="en-US" altLang="ko-KR" dirty="0"/>
                  <a:t>) = 0.2058</a:t>
                </a:r>
              </a:p>
              <a:p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𝜸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(=</m:t>
                    </m:r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𝞠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𝜷</m:t>
                        </m:r>
                      </m:num>
                      <m:den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𝜹</m:t>
                        </m:r>
                      </m:den>
                    </m:f>
                  </m:oMath>
                </a14:m>
                <a:r>
                  <a:rPr lang="en-US" altLang="ko-KR" dirty="0"/>
                  <a:t>) = 0.0007)</a:t>
                </a:r>
              </a:p>
              <a:p>
                <a14:m>
                  <m:oMath xmlns:m="http://schemas.openxmlformats.org/officeDocument/2006/math">
                    <m:r>
                      <a:rPr lang="en-US" altLang="ko-KR" smtClean="0">
                        <a:latin typeface="Cambria Math" panose="02040503050406030204" pitchFamily="18" charset="0"/>
                      </a:rPr>
                      <m:t>𝞠</m:t>
                    </m:r>
                  </m:oMath>
                </a14:m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(</a:t>
                </a:r>
                <a:r>
                  <a:rPr kumimoji="0" lang="ko-KR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생산되는 바이러스</a:t>
                </a:r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) = </a:t>
                </a:r>
                <a:r>
                  <a:rPr lang="en-US" altLang="ko-KR" dirty="0"/>
                  <a:t>1.7789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𝜹</m:t>
                    </m:r>
                  </m:oMath>
                </a14:m>
                <a:r>
                  <a:rPr lang="en-US" altLang="ko-KR" dirty="0"/>
                  <a:t>(</a:t>
                </a:r>
                <a:r>
                  <a:rPr lang="ko-KR" altLang="en-US" dirty="0"/>
                  <a:t>감염된 세포 </a:t>
                </a:r>
                <a:r>
                  <a:rPr lang="ko-KR" altLang="en-US" dirty="0" err="1"/>
                  <a:t>사멸율</a:t>
                </a:r>
                <a:r>
                  <a:rPr lang="en-US" altLang="ko-KR" dirty="0"/>
                  <a:t>) = 0.0523</a:t>
                </a:r>
              </a:p>
              <a:p>
                <a:endParaRPr lang="en-US" altLang="ko-KR" dirty="0"/>
              </a:p>
              <a:p>
                <a:r>
                  <a:rPr lang="en-US" altLang="ko-KR" dirty="0"/>
                  <a:t>V0 = 3.6719, T0 = 617.0310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38A9E5C-FFF1-FF73-2917-AE3514EDD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8689" y="4513845"/>
                <a:ext cx="4103944" cy="1881477"/>
              </a:xfrm>
              <a:prstGeom prst="rect">
                <a:avLst/>
              </a:prstGeom>
              <a:blipFill>
                <a:blip r:embed="rId7"/>
                <a:stretch>
                  <a:fillRect l="-1189" t="-1618" b="-38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19612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0CE4D-C46D-0292-2126-7C8FF2D9C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1F0B980-8ED8-8218-4499-A927C82AA77F}"/>
              </a:ext>
            </a:extLst>
          </p:cNvPr>
          <p:cNvSpPr txBox="1"/>
          <p:nvPr/>
        </p:nvSpPr>
        <p:spPr>
          <a:xfrm>
            <a:off x="585292" y="301939"/>
            <a:ext cx="119385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6.</a:t>
            </a:r>
            <a:r>
              <a:rPr lang="ko-KR" altLang="en-US" dirty="0"/>
              <a:t>각 데이터들은 </a:t>
            </a:r>
            <a:r>
              <a:rPr lang="en-US" altLang="ko-KR" dirty="0"/>
              <a:t>1</a:t>
            </a:r>
            <a:r>
              <a:rPr lang="ko-KR" altLang="en-US" dirty="0"/>
              <a:t>과</a:t>
            </a:r>
            <a:r>
              <a:rPr lang="en-US" altLang="ko-KR" dirty="0"/>
              <a:t> 2</a:t>
            </a:r>
            <a:r>
              <a:rPr lang="ko-KR" altLang="en-US" dirty="0"/>
              <a:t>로 구분한 후 실제 </a:t>
            </a:r>
            <a:r>
              <a:rPr lang="en-US" altLang="ko-KR" dirty="0"/>
              <a:t>label</a:t>
            </a:r>
            <a:r>
              <a:rPr lang="ko-KR" altLang="en-US" dirty="0"/>
              <a:t>대로 구분이 되었는지 확인한다</a:t>
            </a:r>
            <a:endParaRPr lang="en-US" altLang="ko-KR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B95F87D-5844-D5E5-B655-F3791A206EAB}"/>
              </a:ext>
            </a:extLst>
          </p:cNvPr>
          <p:cNvSpPr/>
          <p:nvPr/>
        </p:nvSpPr>
        <p:spPr>
          <a:xfrm>
            <a:off x="1446835" y="3194613"/>
            <a:ext cx="8958806" cy="336144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82EEA00-B798-193A-0874-EE3B32D1C80A}"/>
                  </a:ext>
                </a:extLst>
              </p:cNvPr>
              <p:cNvSpPr txBox="1"/>
              <p:nvPr/>
            </p:nvSpPr>
            <p:spPr>
              <a:xfrm>
                <a:off x="5674438" y="1994678"/>
                <a:ext cx="5035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𝑣𝑠</m:t>
                      </m:r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82EEA00-B798-193A-0874-EE3B32D1C8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4438" y="1994678"/>
                <a:ext cx="50359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F9A7D7DC-D5DE-9466-34C2-536AD7041307}"/>
              </a:ext>
            </a:extLst>
          </p:cNvPr>
          <p:cNvSpPr txBox="1"/>
          <p:nvPr/>
        </p:nvSpPr>
        <p:spPr>
          <a:xfrm>
            <a:off x="1576369" y="3420317"/>
            <a:ext cx="8896923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Params1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질병</a:t>
            </a:r>
            <a:r>
              <a:rPr lang="en-US" altLang="ko-KR" dirty="0"/>
              <a:t>(SARS)</a:t>
            </a:r>
            <a:r>
              <a:rPr lang="ko-KR" altLang="en-US" dirty="0"/>
              <a:t>은</a:t>
            </a:r>
            <a:r>
              <a:rPr lang="en-US" altLang="ko-KR" dirty="0"/>
              <a:t> params2</a:t>
            </a:r>
            <a:r>
              <a:rPr lang="ko-KR" altLang="en-US" dirty="0"/>
              <a:t>에 비해 감염률도 작고</a:t>
            </a:r>
            <a:r>
              <a:rPr lang="en-US" altLang="ko-KR" dirty="0"/>
              <a:t>, </a:t>
            </a:r>
            <a:r>
              <a:rPr lang="ko-KR" altLang="en-US" dirty="0"/>
              <a:t>사멸율도 크지만</a:t>
            </a:r>
            <a:r>
              <a:rPr lang="en-US" altLang="ko-KR" dirty="0"/>
              <a:t> </a:t>
            </a:r>
          </a:p>
          <a:p>
            <a:r>
              <a:rPr lang="ko-KR" altLang="en-US" dirty="0"/>
              <a:t>감염시킨 세포에서 생산되는 바이러스는 아주 많다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Params2</a:t>
            </a:r>
            <a:r>
              <a:rPr lang="ko-KR" altLang="en-US" dirty="0"/>
              <a:t>의 질병</a:t>
            </a:r>
            <a:r>
              <a:rPr lang="en-US" altLang="ko-KR" dirty="0"/>
              <a:t>(COV2)</a:t>
            </a:r>
            <a:r>
              <a:rPr lang="ko-KR" altLang="en-US" dirty="0"/>
              <a:t>은 감염된 세포에서 생산되는 바이러스는 적지만 </a:t>
            </a:r>
            <a:endParaRPr lang="en-US" altLang="ko-KR" dirty="0"/>
          </a:p>
          <a:p>
            <a:r>
              <a:rPr lang="ko-KR" altLang="en-US" dirty="0"/>
              <a:t>비교적 감염률이 크고</a:t>
            </a:r>
            <a:r>
              <a:rPr lang="en-US" altLang="ko-KR" dirty="0"/>
              <a:t>, </a:t>
            </a:r>
            <a:r>
              <a:rPr lang="ko-KR" altLang="en-US" dirty="0"/>
              <a:t>사멸율도 작다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                                                 Params2</a:t>
            </a:r>
            <a:r>
              <a:rPr lang="ko-KR" altLang="en-US" dirty="0"/>
              <a:t>의 질병</a:t>
            </a:r>
            <a:r>
              <a:rPr lang="en-US" altLang="ko-KR" dirty="0"/>
              <a:t>(COV2)</a:t>
            </a:r>
            <a:r>
              <a:rPr lang="ko-KR" altLang="en-US" dirty="0"/>
              <a:t>은 비교적 바이러스가</a:t>
            </a:r>
            <a:endParaRPr lang="en-US" altLang="ko-KR" dirty="0"/>
          </a:p>
          <a:p>
            <a:r>
              <a:rPr lang="en-US" altLang="ko-KR" dirty="0"/>
              <a:t>                                                  </a:t>
            </a:r>
            <a:r>
              <a:rPr lang="ko-KR" altLang="en-US" dirty="0"/>
              <a:t>빠르게 증가하지만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                                                  </a:t>
            </a:r>
            <a:r>
              <a:rPr lang="ko-KR" altLang="en-US" dirty="0"/>
              <a:t>바이러스 수의 최고점은 더 낮고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                                                  </a:t>
            </a:r>
            <a:r>
              <a:rPr lang="ko-KR" altLang="en-US" dirty="0"/>
              <a:t>금새 감소하는 모습을 보인다</a:t>
            </a:r>
            <a:r>
              <a:rPr lang="en-US" altLang="ko-KR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5BB91E0-1B4E-D3A7-4E97-A66793828BE3}"/>
                  </a:ext>
                </a:extLst>
              </p:cNvPr>
              <p:cNvSpPr txBox="1"/>
              <p:nvPr/>
            </p:nvSpPr>
            <p:spPr>
              <a:xfrm>
                <a:off x="1372777" y="1588470"/>
                <a:ext cx="3752950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altLang="ko-KR" dirty="0"/>
                  <a:t>(</a:t>
                </a:r>
                <a:r>
                  <a:rPr lang="ko-KR" altLang="en-US" dirty="0"/>
                  <a:t>감염률</a:t>
                </a:r>
                <a:r>
                  <a:rPr lang="en-US" altLang="ko-KR" dirty="0"/>
                  <a:t>) = 4.7247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a:rPr lang="en-US" altLang="ko-KR" smtClean="0">
                        <a:latin typeface="Cambria Math" panose="02040503050406030204" pitchFamily="18" charset="0"/>
                      </a:rPr>
                      <m:t>𝞠</m:t>
                    </m:r>
                  </m:oMath>
                </a14:m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(</a:t>
                </a:r>
                <a:r>
                  <a:rPr kumimoji="0" lang="ko-KR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생산되는 바이러스</a:t>
                </a:r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) = 2674.1986</a:t>
                </a:r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𝜹</m:t>
                    </m:r>
                  </m:oMath>
                </a14:m>
                <a:r>
                  <a:rPr lang="en-US" altLang="ko-KR" dirty="0"/>
                  <a:t>(</a:t>
                </a:r>
                <a:r>
                  <a:rPr lang="ko-KR" altLang="en-US" dirty="0"/>
                  <a:t>감염된 세포 </a:t>
                </a:r>
                <a:r>
                  <a:rPr lang="ko-KR" altLang="en-US" dirty="0" err="1"/>
                  <a:t>사멸율</a:t>
                </a:r>
                <a:r>
                  <a:rPr lang="en-US" altLang="ko-KR" dirty="0"/>
                  <a:t>) = 8.3663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5BB91E0-1B4E-D3A7-4E97-A66793828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77" y="1588470"/>
                <a:ext cx="3752950" cy="923330"/>
              </a:xfrm>
              <a:prstGeom prst="rect">
                <a:avLst/>
              </a:prstGeom>
              <a:blipFill>
                <a:blip r:embed="rId3"/>
                <a:stretch>
                  <a:fillRect l="-487" t="-3974" r="-649" b="-993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C0C6B8E-9FE0-7383-8CFB-213A3D11C1AD}"/>
                  </a:ext>
                </a:extLst>
              </p:cNvPr>
              <p:cNvSpPr txBox="1"/>
              <p:nvPr/>
            </p:nvSpPr>
            <p:spPr>
              <a:xfrm>
                <a:off x="6715279" y="1588470"/>
                <a:ext cx="4103944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altLang="ko-KR" dirty="0"/>
                  <a:t>(</a:t>
                </a:r>
                <a:r>
                  <a:rPr lang="ko-KR" altLang="en-US" dirty="0"/>
                  <a:t>감염률</a:t>
                </a:r>
                <a:r>
                  <a:rPr lang="en-US" altLang="ko-KR" dirty="0"/>
                  <a:t>) = 0.2058</a:t>
                </a:r>
              </a:p>
              <a:p>
                <a14:m>
                  <m:oMath xmlns:m="http://schemas.openxmlformats.org/officeDocument/2006/math">
                    <m:r>
                      <a:rPr lang="en-US" altLang="ko-KR" smtClean="0">
                        <a:latin typeface="Cambria Math" panose="02040503050406030204" pitchFamily="18" charset="0"/>
                      </a:rPr>
                      <m:t>𝞠</m:t>
                    </m:r>
                  </m:oMath>
                </a14:m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(</a:t>
                </a:r>
                <a:r>
                  <a:rPr kumimoji="0" lang="ko-KR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생산되는 바이러스</a:t>
                </a:r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) = </a:t>
                </a:r>
                <a:r>
                  <a:rPr lang="en-US" altLang="ko-KR" dirty="0"/>
                  <a:t>1.7789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𝜹</m:t>
                    </m:r>
                  </m:oMath>
                </a14:m>
                <a:r>
                  <a:rPr lang="en-US" altLang="ko-KR" dirty="0"/>
                  <a:t>(</a:t>
                </a:r>
                <a:r>
                  <a:rPr lang="ko-KR" altLang="en-US" dirty="0"/>
                  <a:t>감염된 세포 </a:t>
                </a:r>
                <a:r>
                  <a:rPr lang="ko-KR" altLang="en-US" dirty="0" err="1"/>
                  <a:t>사멸율</a:t>
                </a:r>
                <a:r>
                  <a:rPr lang="en-US" altLang="ko-KR" dirty="0"/>
                  <a:t>) = 0.0523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C0C6B8E-9FE0-7383-8CFB-213A3D11C1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5279" y="1588470"/>
                <a:ext cx="4103944" cy="923330"/>
              </a:xfrm>
              <a:prstGeom prst="rect">
                <a:avLst/>
              </a:prstGeom>
              <a:blipFill>
                <a:blip r:embed="rId4"/>
                <a:stretch>
                  <a:fillRect l="-446" t="-3974" b="-993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2">
            <a:extLst>
              <a:ext uri="{FF2B5EF4-FFF2-40B4-BE49-F238E27FC236}">
                <a16:creationId xmlns:a16="http://schemas.microsoft.com/office/drawing/2014/main" id="{9A04E268-5030-10FC-D7B3-CB7E115D20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369" y="5039022"/>
            <a:ext cx="1910153" cy="1477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>
            <a:extLst>
              <a:ext uri="{FF2B5EF4-FFF2-40B4-BE49-F238E27FC236}">
                <a16:creationId xmlns:a16="http://schemas.microsoft.com/office/drawing/2014/main" id="{291192E9-D142-0E92-EA15-950B705E46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4285" y="4988189"/>
            <a:ext cx="1910153" cy="1477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51448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C0B8A3-0F9A-251A-95D8-BA5A6B0635BA}"/>
              </a:ext>
            </a:extLst>
          </p:cNvPr>
          <p:cNvSpPr txBox="1"/>
          <p:nvPr/>
        </p:nvSpPr>
        <p:spPr>
          <a:xfrm>
            <a:off x="162045" y="243069"/>
            <a:ext cx="12581681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미분방정식 시스템을 이용한 </a:t>
            </a:r>
            <a:r>
              <a:rPr lang="en-US" altLang="ko-KR" b="1" dirty="0" err="1"/>
              <a:t>classfication</a:t>
            </a:r>
            <a:r>
              <a:rPr lang="ko-KR" altLang="en-US" b="1" dirty="0"/>
              <a:t>의 특징</a:t>
            </a:r>
            <a:r>
              <a:rPr lang="en-US" altLang="ko-KR" b="1" dirty="0"/>
              <a:t>?:</a:t>
            </a:r>
          </a:p>
          <a:p>
            <a:endParaRPr lang="en-US" altLang="ko-KR" b="1" dirty="0"/>
          </a:p>
          <a:p>
            <a:r>
              <a:rPr lang="en-US" altLang="ko-KR" b="1" dirty="0"/>
              <a:t>1. </a:t>
            </a:r>
            <a:r>
              <a:rPr lang="ko-KR" altLang="en-US" b="1" dirty="0"/>
              <a:t>시계열 데이터에 최적화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미분방정식 시스템은 </a:t>
            </a:r>
            <a:r>
              <a:rPr lang="ko-KR" altLang="en-US" b="1" dirty="0"/>
              <a:t>시간에 따른 동적 변화</a:t>
            </a:r>
            <a:r>
              <a:rPr lang="ko-KR" altLang="en-US" dirty="0"/>
              <a:t>를 수리적으로 모델링하므로 시계열 데이터의 특성을 잘 반영할 수 있다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2. </a:t>
            </a:r>
            <a:r>
              <a:rPr lang="ko-KR" altLang="en-US" b="1" dirty="0"/>
              <a:t>다차원 시스템에 강함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미분방정식이 </a:t>
            </a:r>
            <a:r>
              <a:rPr lang="en-US" altLang="ko-KR" dirty="0"/>
              <a:t>3</a:t>
            </a:r>
            <a:r>
              <a:rPr lang="ko-KR" altLang="en-US" dirty="0"/>
              <a:t>개면 </a:t>
            </a:r>
            <a:r>
              <a:rPr lang="en-US" altLang="ko-KR" dirty="0"/>
              <a:t>3</a:t>
            </a:r>
            <a:r>
              <a:rPr lang="ko-KR" altLang="en-US" dirty="0"/>
              <a:t>차원</a:t>
            </a:r>
            <a:r>
              <a:rPr lang="en-US" altLang="ko-KR" dirty="0"/>
              <a:t>, 4</a:t>
            </a:r>
            <a:r>
              <a:rPr lang="ko-KR" altLang="en-US" dirty="0"/>
              <a:t>개면 </a:t>
            </a:r>
            <a:r>
              <a:rPr lang="en-US" altLang="ko-KR" dirty="0"/>
              <a:t>4</a:t>
            </a:r>
            <a:r>
              <a:rPr lang="ko-KR" altLang="en-US" dirty="0"/>
              <a:t>차원처럼 </a:t>
            </a:r>
            <a:r>
              <a:rPr lang="ko-KR" altLang="en-US" b="1" dirty="0"/>
              <a:t>다차원 동역학 시스템</a:t>
            </a:r>
            <a:r>
              <a:rPr lang="ko-KR" altLang="en-US" dirty="0"/>
              <a:t>을 모델링할 수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(</a:t>
            </a:r>
            <a:r>
              <a:rPr lang="ko-KR" altLang="en-US" dirty="0"/>
              <a:t>지금은 </a:t>
            </a:r>
            <a:r>
              <a:rPr lang="en-US" altLang="ko-KR" dirty="0"/>
              <a:t>2</a:t>
            </a:r>
            <a:r>
              <a:rPr lang="ko-KR" altLang="en-US" dirty="0"/>
              <a:t>개만 사용하였지만</a:t>
            </a:r>
            <a:r>
              <a:rPr lang="en-US" altLang="ko-KR" dirty="0"/>
              <a:t>, </a:t>
            </a:r>
            <a:r>
              <a:rPr lang="ko-KR" altLang="en-US" dirty="0"/>
              <a:t>수업의 고난이도 피팅 문제</a:t>
            </a:r>
            <a:r>
              <a:rPr lang="en-US" altLang="ko-KR" dirty="0"/>
              <a:t>~</a:t>
            </a:r>
            <a:r>
              <a:rPr lang="ko-KR" altLang="en-US" dirty="0"/>
              <a:t>의 경우 </a:t>
            </a:r>
            <a:r>
              <a:rPr lang="en-US" altLang="ko-KR" dirty="0"/>
              <a:t>4</a:t>
            </a:r>
            <a:r>
              <a:rPr lang="ko-KR" altLang="en-US" dirty="0"/>
              <a:t>개였다</a:t>
            </a:r>
            <a:r>
              <a:rPr lang="en-US" altLang="ko-KR" dirty="0"/>
              <a:t>.)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3. </a:t>
            </a:r>
            <a:r>
              <a:rPr lang="ko-KR" altLang="en-US" b="1" dirty="0"/>
              <a:t>기존 시계열 분석과의 </a:t>
            </a:r>
            <a:r>
              <a:rPr lang="ko-KR" altLang="en-US" b="1" dirty="0" err="1">
                <a:highlight>
                  <a:srgbClr val="FFFF00"/>
                </a:highlight>
              </a:rPr>
              <a:t>차별점</a:t>
            </a:r>
            <a:endParaRPr lang="ko-KR" altLang="en-US" b="1" dirty="0">
              <a:highlight>
                <a:srgbClr val="FFFF00"/>
              </a:highlight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기존 시계열 분석</a:t>
            </a:r>
            <a:r>
              <a:rPr lang="en-US" altLang="ko-KR" dirty="0"/>
              <a:t>(ARIMA, LSTM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은 주로 패턴 예측에 집중하지만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미분방정식 시스템은 </a:t>
            </a:r>
            <a:r>
              <a:rPr lang="ko-KR" altLang="en-US" b="1" dirty="0"/>
              <a:t>데이터의 생성 메커니즘</a:t>
            </a:r>
            <a:r>
              <a:rPr lang="ko-KR" altLang="en-US" dirty="0"/>
              <a:t>을 모델링한다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b="1" dirty="0">
                <a:highlight>
                  <a:srgbClr val="FFFF00"/>
                </a:highlight>
              </a:rPr>
              <a:t>현상의 원인과 구조</a:t>
            </a:r>
            <a:r>
              <a:rPr lang="ko-KR" altLang="en-US" dirty="0"/>
              <a:t>를 이해하는 데 초점을 맞추기 때문에 </a:t>
            </a:r>
            <a:r>
              <a:rPr lang="ko-KR" altLang="en-US" dirty="0">
                <a:highlight>
                  <a:srgbClr val="FFFF00"/>
                </a:highlight>
              </a:rPr>
              <a:t>더 </a:t>
            </a:r>
            <a:r>
              <a:rPr lang="ko-KR" altLang="en-US" b="1" dirty="0">
                <a:highlight>
                  <a:srgbClr val="FFFF00"/>
                </a:highlight>
              </a:rPr>
              <a:t>설명력 있는 모델</a:t>
            </a:r>
            <a:r>
              <a:rPr lang="ko-KR" altLang="en-US" dirty="0">
                <a:highlight>
                  <a:srgbClr val="FFFF00"/>
                </a:highlight>
              </a:rPr>
              <a:t>을 제공</a:t>
            </a:r>
            <a:r>
              <a:rPr lang="ko-KR" altLang="en-US" dirty="0"/>
              <a:t>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4. </a:t>
            </a:r>
            <a:r>
              <a:rPr lang="ko-KR" altLang="en-US" b="1" dirty="0"/>
              <a:t>분류 결과의 </a:t>
            </a:r>
            <a:r>
              <a:rPr lang="ko-KR" altLang="en-US" b="1" dirty="0">
                <a:highlight>
                  <a:srgbClr val="FFFF00"/>
                </a:highlight>
              </a:rPr>
              <a:t>해석 가능성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(</a:t>
            </a:r>
            <a:r>
              <a:rPr lang="ko-KR" altLang="en-US" dirty="0"/>
              <a:t>데이터를 나누는 기준이 </a:t>
            </a:r>
            <a:r>
              <a:rPr lang="ko-KR" altLang="en-US" b="1" dirty="0"/>
              <a:t>미분방정식 파라미터의 오차</a:t>
            </a:r>
            <a:r>
              <a:rPr lang="ko-KR" altLang="en-US" dirty="0"/>
              <a:t>이기 때문에</a:t>
            </a:r>
            <a:r>
              <a:rPr lang="en-US" altLang="ko-KR" dirty="0"/>
              <a:t>,) </a:t>
            </a:r>
          </a:p>
          <a:p>
            <a:r>
              <a:rPr lang="ko-KR" altLang="en-US" dirty="0"/>
              <a:t>각 그룹의 데이터가 </a:t>
            </a:r>
            <a:r>
              <a:rPr lang="ko-KR" altLang="en-US" b="1" dirty="0">
                <a:highlight>
                  <a:srgbClr val="FFFF00"/>
                </a:highlight>
              </a:rPr>
              <a:t>어떤 동역학적 특성을 가지는지</a:t>
            </a:r>
            <a:r>
              <a:rPr lang="ko-KR" altLang="en-US" dirty="0">
                <a:highlight>
                  <a:srgbClr val="FFFF00"/>
                </a:highlight>
              </a:rPr>
              <a:t>를 파라미터를 통해 해석할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단순히 통계적 패턴이나 </a:t>
            </a:r>
            <a:r>
              <a:rPr lang="ko-KR" altLang="en-US" dirty="0" err="1"/>
              <a:t>머신러닝</a:t>
            </a:r>
            <a:r>
              <a:rPr lang="ko-KR" altLang="en-US" dirty="0"/>
              <a:t> 모델로 </a:t>
            </a:r>
            <a:r>
              <a:rPr lang="ko-KR" altLang="en-US" dirty="0" err="1"/>
              <a:t>피팅하는</a:t>
            </a:r>
            <a:r>
              <a:rPr lang="ko-KR" altLang="en-US" dirty="0"/>
              <a:t> 것보다 </a:t>
            </a:r>
            <a:r>
              <a:rPr lang="ko-KR" altLang="en-US" b="1" dirty="0"/>
              <a:t>현상에 대한 이해</a:t>
            </a:r>
            <a:r>
              <a:rPr lang="ko-KR" altLang="en-US" dirty="0"/>
              <a:t>를 기반으로 결과를 설명할 수 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442351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6A1E4-40E1-4E19-32CC-C030C5932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5202D-C6B5-887A-A3F2-ABD281553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378" y="2766218"/>
            <a:ext cx="10515600" cy="1325563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추가로</a:t>
            </a:r>
            <a:r>
              <a:rPr lang="en-US" altLang="ko-KR" dirty="0"/>
              <a:t>..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87761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7390C10-681F-A950-2305-86F7DD45ED22}"/>
                  </a:ext>
                </a:extLst>
              </p:cNvPr>
              <p:cNvSpPr txBox="1"/>
              <p:nvPr/>
            </p:nvSpPr>
            <p:spPr>
              <a:xfrm>
                <a:off x="6097930" y="1200283"/>
                <a:ext cx="6094070" cy="27124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altLang="ko-KR" dirty="0"/>
                  <a:t>(</a:t>
                </a:r>
                <a:r>
                  <a:rPr lang="ko-KR" altLang="en-US" dirty="0"/>
                  <a:t>감염률</a:t>
                </a:r>
                <a:r>
                  <a:rPr lang="en-US" altLang="ko-KR" dirty="0"/>
                  <a:t>) = 0.1</a:t>
                </a:r>
              </a:p>
              <a:p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𝜸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(=</m:t>
                    </m:r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𝞠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𝜷</m:t>
                        </m:r>
                      </m:num>
                      <m:den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𝜹</m:t>
                        </m:r>
                      </m:den>
                    </m:f>
                  </m:oMath>
                </a14:m>
                <a:r>
                  <a:rPr lang="en-US" altLang="ko-KR" dirty="0"/>
                  <a:t>) = 0.0015</a:t>
                </a:r>
              </a:p>
              <a:p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r>
                      <a:rPr lang="en-US" altLang="ko-KR" smtClean="0">
                        <a:latin typeface="Cambria Math" panose="02040503050406030204" pitchFamily="18" charset="0"/>
                      </a:rPr>
                      <m:t>𝞠</m:t>
                    </m:r>
                  </m:oMath>
                </a14:m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(</a:t>
                </a:r>
                <a:r>
                  <a:rPr kumimoji="0" lang="ko-KR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생산되는 바이러스</a:t>
                </a:r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) = </a:t>
                </a:r>
                <a:r>
                  <a:rPr lang="en-US" altLang="ko-KR" dirty="0">
                    <a:latin typeface="Arial" panose="020B0604020202020204" pitchFamily="34" charset="0"/>
                  </a:rPr>
                  <a:t>2.25 </a:t>
                </a:r>
                <a:r>
                  <a:rPr lang="en-US" altLang="ko-KR" dirty="0"/>
                  <a:t>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)</a:t>
                </a:r>
              </a:p>
              <a:p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𝜹</m:t>
                    </m:r>
                  </m:oMath>
                </a14:m>
                <a:r>
                  <a:rPr lang="en-US" altLang="ko-KR" dirty="0"/>
                  <a:t>(</a:t>
                </a:r>
                <a:r>
                  <a:rPr lang="ko-KR" altLang="en-US" dirty="0"/>
                  <a:t>감염된 세포 </a:t>
                </a:r>
                <a:r>
                  <a:rPr lang="ko-KR" altLang="en-US" dirty="0" err="1"/>
                  <a:t>사멸율</a:t>
                </a:r>
                <a:r>
                  <a:rPr lang="en-US" altLang="ko-KR" dirty="0"/>
                  <a:t>) = 0.15</a:t>
                </a:r>
              </a:p>
              <a:p>
                <a:endParaRPr lang="en-US" altLang="ko-KR" dirty="0"/>
              </a:p>
              <a:p>
                <a:r>
                  <a:rPr lang="en-US" altLang="ko-KR" dirty="0"/>
                  <a:t>V0 = 5, T0 = 600</a:t>
                </a:r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/>
                  <a:t>~</a:t>
                </a:r>
                <a:r>
                  <a:rPr lang="ko-KR" altLang="en-US" dirty="0"/>
                  <a:t>인 임의의 파라미터를 따르는 임의의 데이터를 추가한다</a:t>
                </a:r>
                <a:r>
                  <a:rPr lang="en-US" altLang="ko-KR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7390C10-681F-A950-2305-86F7DD45ED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7930" y="1200283"/>
                <a:ext cx="6094070" cy="2712474"/>
              </a:xfrm>
              <a:prstGeom prst="rect">
                <a:avLst/>
              </a:prstGeom>
              <a:blipFill>
                <a:blip r:embed="rId2"/>
                <a:stretch>
                  <a:fillRect l="-800" t="-1348" r="-1600" b="-247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316" name="Picture 4">
            <a:extLst>
              <a:ext uri="{FF2B5EF4-FFF2-40B4-BE49-F238E27FC236}">
                <a16:creationId xmlns:a16="http://schemas.microsoft.com/office/drawing/2014/main" id="{27B70296-496D-2D57-AB78-FB558933C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74" y="1945844"/>
            <a:ext cx="5172075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15858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A3051F53-27E8-40F4-7850-7E4FEF958F1F}"/>
              </a:ext>
            </a:extLst>
          </p:cNvPr>
          <p:cNvSpPr/>
          <p:nvPr/>
        </p:nvSpPr>
        <p:spPr>
          <a:xfrm>
            <a:off x="5335025" y="4156095"/>
            <a:ext cx="1061014" cy="1033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5D34C8-1467-5B66-374D-D21EE6EC091A}"/>
              </a:ext>
            </a:extLst>
          </p:cNvPr>
          <p:cNvSpPr txBox="1"/>
          <p:nvPr/>
        </p:nvSpPr>
        <p:spPr>
          <a:xfrm>
            <a:off x="532435" y="1128532"/>
            <a:ext cx="43300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무작위의 </a:t>
            </a:r>
            <a:r>
              <a:rPr lang="en-US" altLang="ko-KR" dirty="0"/>
              <a:t>y</a:t>
            </a:r>
            <a:r>
              <a:rPr lang="ko-KR" altLang="en-US" dirty="0"/>
              <a:t>값에서 </a:t>
            </a:r>
            <a:endParaRPr lang="en-US" altLang="ko-KR" dirty="0"/>
          </a:p>
          <a:p>
            <a:r>
              <a:rPr lang="ko-KR" altLang="en-US" dirty="0"/>
              <a:t>표준편차 </a:t>
            </a:r>
            <a:r>
              <a:rPr lang="en-US" altLang="ko-KR" dirty="0"/>
              <a:t>0.5</a:t>
            </a:r>
            <a:r>
              <a:rPr lang="ko-KR" altLang="en-US" dirty="0"/>
              <a:t>만큼의 노이즈를 준 데이터</a:t>
            </a:r>
            <a:r>
              <a:rPr lang="en-US" altLang="ko-KR" dirty="0"/>
              <a:t>: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8C7648-A954-C8C0-26CC-66E7A474675A}"/>
              </a:ext>
            </a:extLst>
          </p:cNvPr>
          <p:cNvSpPr txBox="1"/>
          <p:nvPr/>
        </p:nvSpPr>
        <p:spPr>
          <a:xfrm>
            <a:off x="5471834" y="3762555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추가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21516" name="Picture 12">
            <a:extLst>
              <a:ext uri="{FF2B5EF4-FFF2-40B4-BE49-F238E27FC236}">
                <a16:creationId xmlns:a16="http://schemas.microsoft.com/office/drawing/2014/main" id="{A1891BF6-4C9E-7E84-DC13-8498C53A29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424" y="2098695"/>
            <a:ext cx="535305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18" name="Picture 14">
            <a:extLst>
              <a:ext uri="{FF2B5EF4-FFF2-40B4-BE49-F238E27FC236}">
                <a16:creationId xmlns:a16="http://schemas.microsoft.com/office/drawing/2014/main" id="{F1055C07-9245-B9FB-D786-DBD54BBCF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83" y="2098849"/>
            <a:ext cx="5172075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47268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42" name="Picture 14">
            <a:extLst>
              <a:ext uri="{FF2B5EF4-FFF2-40B4-BE49-F238E27FC236}">
                <a16:creationId xmlns:a16="http://schemas.microsoft.com/office/drawing/2014/main" id="{625B7AD5-B197-00B7-4A2E-1D32259C0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9130" y="1910646"/>
            <a:ext cx="4212872" cy="3238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44" name="Picture 16">
            <a:extLst>
              <a:ext uri="{FF2B5EF4-FFF2-40B4-BE49-F238E27FC236}">
                <a16:creationId xmlns:a16="http://schemas.microsoft.com/office/drawing/2014/main" id="{6257EF12-03AA-CA28-F1F2-2EBF576B4E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294" y="1910646"/>
            <a:ext cx="4212872" cy="3238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46" name="Picture 18">
            <a:extLst>
              <a:ext uri="{FF2B5EF4-FFF2-40B4-BE49-F238E27FC236}">
                <a16:creationId xmlns:a16="http://schemas.microsoft.com/office/drawing/2014/main" id="{391A2E78-30F9-92BE-7959-05DB030D3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289" y="1910646"/>
            <a:ext cx="4212872" cy="3238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800B42-4240-AA34-C0C6-AFBE7C620B36}"/>
              </a:ext>
            </a:extLst>
          </p:cNvPr>
          <p:cNvSpPr txBox="1"/>
          <p:nvPr/>
        </p:nvSpPr>
        <p:spPr>
          <a:xfrm>
            <a:off x="884904" y="5712542"/>
            <a:ext cx="9273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 경우에도 </a:t>
            </a:r>
            <a:r>
              <a:rPr lang="en-US" altLang="ko-KR" dirty="0"/>
              <a:t>fitting</a:t>
            </a:r>
            <a:r>
              <a:rPr lang="ko-KR" altLang="en-US" dirty="0"/>
              <a:t>을 통한 분류를 하고</a:t>
            </a:r>
            <a:r>
              <a:rPr lang="en-US" altLang="ko-KR" dirty="0"/>
              <a:t>, </a:t>
            </a:r>
            <a:r>
              <a:rPr lang="ko-KR" altLang="en-US" dirty="0"/>
              <a:t>각 질병들이 따르는 파라미터를 구할 수 있었다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66804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12252</TotalTime>
  <Words>1351</Words>
  <Application>Microsoft Office PowerPoint</Application>
  <PresentationFormat>와이드스크린</PresentationFormat>
  <Paragraphs>188</Paragraphs>
  <Slides>34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38" baseType="lpstr">
      <vt:lpstr>맑은 고딕</vt:lpstr>
      <vt:lpstr>Arial</vt:lpstr>
      <vt:lpstr>Cambria Math</vt:lpstr>
      <vt:lpstr>Office 테마</vt:lpstr>
      <vt:lpstr>바이러스 동역학 모델의 fitting을 통한  classfication</vt:lpstr>
      <vt:lpstr>1. 바이러스 동역학 모델 설명</vt:lpstr>
      <vt:lpstr>PowerPoint 프레젠테이션</vt:lpstr>
      <vt:lpstr>PowerPoint 프레젠테이션</vt:lpstr>
      <vt:lpstr>2. 하나의 데이터에 대하여 fitting</vt:lpstr>
      <vt:lpstr>PowerPoint 프레젠테이션</vt:lpstr>
      <vt:lpstr>PowerPoint 프레젠테이션</vt:lpstr>
      <vt:lpstr>3. classficaition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3. 추가로..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치현 박</dc:creator>
  <cp:lastModifiedBy>치현 박</cp:lastModifiedBy>
  <cp:revision>3</cp:revision>
  <dcterms:created xsi:type="dcterms:W3CDTF">2024-12-11T01:05:22Z</dcterms:created>
  <dcterms:modified xsi:type="dcterms:W3CDTF">2024-12-20T22:47:43Z</dcterms:modified>
</cp:coreProperties>
</file>